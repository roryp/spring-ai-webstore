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13.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8" r:id="rId19"/>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19"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115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45 minutes we take one small Java web store from a laptop to Azure, add an AI assistant, and then look inside every answer. You only need a browser.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store, four steps. Each step is a folder in the repo, and each adds one idea: run it, ship it, add AI, and see inside it. The six products stay the same all the way through.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in your browser: read the code on GitHub and try the live apps. For each step: look at the diagram, read the code, try the app, then answer the Find questions. We check the answers at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the browser asks for the page, the controller gets six products from the catalog and fills in the page. It works, but only on my laptop. Nobody else can use it, and I start it by hand. Time: 7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Java code didn't change. We added a Dockerfile to pack the app, azure.yaml to name it, and Bicep to describe the Azure resources. One command, azd up, creates all of this in about 5 minutes. The app pulls its image with its managed identity, so there's no password, and it scales to zero when nobody uses it. Time: 10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two calls to the model, and one call to our own Java code in between. The model can't see our catalog, so we give it a tool: one method with @Tool. There are no API keys: they're switched off in Foundry, and the app signs in with its managed identity. Time: 12 minutes for step 3, including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find the two files and answer the questions, then ask the store one question. The Summit jacket is out of stock, and the assistant says so, then suggests jackets that are in stock: real facts, not guesses. The poem question shows it stays on topic.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app's code didn't change: one dependency, three settings, and Application Insights in Bicep. Container Apps tells the app where to send traces. Time: 8 minutes for step 4, including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trace from step 4. Two model calls and one tool call. Here are the tokens, and here's the cost: less than a hundredth of a cent. The traces keep timings and token counts, not the questions or the answers.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the cheap part: a question costs less than a hundredth of a cent. The main fixed cost is the container registry. The model's per-minute limit also caps the worst case.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together. The details are in docs/workshop.md.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ship it, add AI, see inside it. To try it yourself, run azd up in any step folder, and azd down --purge when you're done.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nothing for the room to do. In step 3, Spring AI sends one question to the model, and the model can ask for one Java method. The GitHub Copilot SDK goes further: it runs Copilot's agent inside your own app. You give it a goal, and it plans and calls your Java tools, step by step, until the job is done. You still write the tools as Java methods, with @CopilotTool instead of @Tool. The Maven dependency is com.github:copilot-sdk-java. It works with a GitHub Copilot subscription, or with your own model in Microsoft Foundry, where the app signs in with its managed identity, as in step 3. The bonus folder, step-3-copilot-sdk, builds this same assistant with the SDK: show Assistant.java and its live app if you have time. Copilot's agent can run commands and edit files, so the app switches all of that off and allows only the one tool. Be clear that the SDK's Java releases are still labeled preview, and @CopilotTool is still marked experimental.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13590247"/>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A28"/>
        </a:solidFill>
        <a:effectLst/>
      </p:bgPr>
    </p:bg>
    <p:spTree>
      <p:nvGrpSpPr>
        <p:cNvPr id="1" name=""/>
        <p:cNvGrpSpPr/>
        <p:nvPr/>
      </p:nvGrpSpPr>
      <p:grpSpPr>
        <a:xfrm>
          <a:off x="0" y="0"/>
          <a:ext cx="0" cy="0"/>
          <a:chOff x="0" y="0"/>
          <a:chExt cx="0" cy="0"/>
        </a:xfrm>
      </p:grpSpPr>
      <p:sp>
        <p:nvSpPr>
          <p:cNvPr id="2" name="Text 0"/>
          <p:cNvSpPr/>
          <p:nvPr/>
        </p:nvSpPr>
        <p:spPr>
          <a:xfrm>
            <a:off x="685800" y="1828800"/>
            <a:ext cx="5669280" cy="320040"/>
          </a:xfrm>
          <a:prstGeom prst="rect">
            <a:avLst/>
          </a:prstGeom>
          <a:noFill/>
          <a:ln/>
        </p:spPr>
        <p:txBody>
          <a:bodyPr wrap="square" lIns="0" tIns="0" rIns="0" bIns="0" rtlCol="0" anchor="ctr"/>
          <a:lstStyle/>
          <a:p>
            <a:pPr marL="0" indent="0">
              <a:buNone/>
            </a:pPr>
            <a:r>
              <a:rPr lang="en-US" sz="1400" kern="0" spc="400" dirty="0">
                <a:solidFill>
                  <a:srgbClr val="FD8EA1"/>
                </a:solidFill>
                <a:latin typeface="Segoe UI Semibold" pitchFamily="34" charset="0"/>
                <a:ea typeface="Segoe UI Semibold" pitchFamily="34" charset="-122"/>
                <a:cs typeface="Segoe UI Semibold" pitchFamily="34" charset="-120"/>
              </a:rPr>
              <a:t>45-MINUTE WORKSHOP</a:t>
            </a:r>
            <a:endParaRPr lang="en-US" sz="1400" dirty="0"/>
          </a:p>
        </p:txBody>
      </p:sp>
      <p:sp>
        <p:nvSpPr>
          <p:cNvPr id="3" name="Text 1"/>
          <p:cNvSpPr/>
          <p:nvPr/>
        </p:nvSpPr>
        <p:spPr>
          <a:xfrm>
            <a:off x="685800" y="2194560"/>
            <a:ext cx="5669280" cy="960120"/>
          </a:xfrm>
          <a:prstGeom prst="rect">
            <a:avLst/>
          </a:prstGeom>
          <a:noFill/>
          <a:ln/>
        </p:spPr>
        <p:txBody>
          <a:bodyPr wrap="square" lIns="0" tIns="0" rIns="0" bIns="0" rtlCol="0" anchor="ctr"/>
          <a:lstStyle/>
          <a:p>
            <a:pPr marL="0" indent="0">
              <a:buNone/>
            </a:pPr>
            <a:r>
              <a:rPr lang="en-US" sz="6000" dirty="0">
                <a:solidFill>
                  <a:srgbClr val="F7F4EF"/>
                </a:solidFill>
                <a:latin typeface="Segoe UI Semibold" pitchFamily="34" charset="0"/>
                <a:ea typeface="Segoe UI Semibold" pitchFamily="34" charset="-122"/>
                <a:cs typeface="Segoe UI Semibold" pitchFamily="34" charset="-120"/>
              </a:rPr>
              <a:t>Trail Store</a:t>
            </a:r>
            <a:endParaRPr lang="en-US" sz="6000" dirty="0"/>
          </a:p>
        </p:txBody>
      </p:sp>
      <p:sp>
        <p:nvSpPr>
          <p:cNvPr id="4" name="Text 2"/>
          <p:cNvSpPr/>
          <p:nvPr/>
        </p:nvSpPr>
        <p:spPr>
          <a:xfrm>
            <a:off x="685800" y="3291840"/>
            <a:ext cx="5486400" cy="914400"/>
          </a:xfrm>
          <a:prstGeom prst="rect">
            <a:avLst/>
          </a:prstGeom>
          <a:noFill/>
          <a:ln/>
        </p:spPr>
        <p:txBody>
          <a:bodyPr wrap="square" lIns="0" tIns="0" rIns="0" bIns="0" rtlCol="0" anchor="t"/>
          <a:lstStyle/>
          <a:p>
            <a:pPr marL="0" indent="0">
              <a:buNone/>
            </a:pPr>
            <a:r>
              <a:rPr lang="en-US" sz="2600" dirty="0">
                <a:solidFill>
                  <a:srgbClr val="F7F4EF"/>
                </a:solidFill>
                <a:latin typeface="Segoe UI" pitchFamily="34" charset="0"/>
                <a:ea typeface="Segoe UI" pitchFamily="34" charset="-122"/>
                <a:cs typeface="Segoe UI" pitchFamily="34" charset="-120"/>
              </a:rPr>
              <a:t>From your laptop to an AI</a:t>
            </a:r>
            <a:endParaRPr lang="en-US" sz="2600" dirty="0"/>
          </a:p>
          <a:p>
            <a:pPr marL="0" indent="0">
              <a:buNone/>
            </a:pPr>
            <a:r>
              <a:rPr lang="en-US" sz="2600" dirty="0">
                <a:solidFill>
                  <a:srgbClr val="F7F4EF"/>
                </a:solidFill>
                <a:latin typeface="Segoe UI" pitchFamily="34" charset="0"/>
                <a:ea typeface="Segoe UI" pitchFamily="34" charset="-122"/>
                <a:cs typeface="Segoe UI" pitchFamily="34" charset="-120"/>
              </a:rPr>
              <a:t>you can see inside</a:t>
            </a:r>
            <a:endParaRPr lang="en-US" sz="2600" dirty="0"/>
          </a:p>
        </p:txBody>
      </p:sp>
      <p:sp>
        <p:nvSpPr>
          <p:cNvPr id="5" name="Text 3"/>
          <p:cNvSpPr/>
          <p:nvPr/>
        </p:nvSpPr>
        <p:spPr>
          <a:xfrm>
            <a:off x="685800" y="4434840"/>
            <a:ext cx="5486400" cy="548640"/>
          </a:xfrm>
          <a:prstGeom prst="rect">
            <a:avLst/>
          </a:prstGeom>
          <a:noFill/>
          <a:ln/>
        </p:spPr>
        <p:txBody>
          <a:bodyPr wrap="square" lIns="0" tIns="0" rIns="0" bIns="0" rtlCol="0" anchor="t"/>
          <a:lstStyle/>
          <a:p>
            <a:pPr marL="0" indent="0">
              <a:buNone/>
            </a:pPr>
            <a:r>
              <a:rPr lang="en-US" sz="1500" dirty="0">
                <a:solidFill>
                  <a:srgbClr val="C9C4BE"/>
                </a:solidFill>
                <a:latin typeface="Segoe UI" pitchFamily="34" charset="0"/>
                <a:ea typeface="Segoe UI" pitchFamily="34" charset="-122"/>
                <a:cs typeface="Segoe UI" pitchFamily="34" charset="-120"/>
              </a:rPr>
              <a:t>Spring Boot  ·  Azure Container Apps</a:t>
            </a:r>
            <a:endParaRPr lang="en-US" sz="1500" dirty="0"/>
          </a:p>
          <a:p>
            <a:pPr marL="0" indent="0">
              <a:buNone/>
            </a:pPr>
            <a:r>
              <a:rPr lang="en-US" sz="1500" dirty="0">
                <a:solidFill>
                  <a:srgbClr val="C9C4BE"/>
                </a:solidFill>
                <a:latin typeface="Segoe UI" pitchFamily="34" charset="0"/>
                <a:ea typeface="Segoe UI" pitchFamily="34" charset="-122"/>
                <a:cs typeface="Segoe UI" pitchFamily="34" charset="-120"/>
              </a:rPr>
              <a:t>Microsoft Foundry  ·  OpenTelemetry</a:t>
            </a:r>
            <a:endParaRPr lang="en-US" sz="1500" dirty="0"/>
          </a:p>
        </p:txBody>
      </p:sp>
      <p:sp>
        <p:nvSpPr>
          <p:cNvPr id="6" name="Text 4"/>
          <p:cNvSpPr/>
          <p:nvPr/>
        </p:nvSpPr>
        <p:spPr>
          <a:xfrm>
            <a:off x="685800" y="5897880"/>
            <a:ext cx="5486400" cy="320040"/>
          </a:xfrm>
          <a:prstGeom prst="rect">
            <a:avLst/>
          </a:prstGeom>
          <a:noFill/>
          <a:ln/>
        </p:spPr>
        <p:txBody>
          <a:bodyPr wrap="square" lIns="0" tIns="0" rIns="0" bIns="0" rtlCol="0" anchor="ctr"/>
          <a:lstStyle/>
          <a:p>
            <a:pPr marL="0" indent="0">
              <a:buNone/>
            </a:pPr>
            <a:r>
              <a:rPr lang="en-US" sz="1400" dirty="0">
                <a:solidFill>
                  <a:srgbClr val="C9C4BE"/>
                </a:solidFill>
                <a:latin typeface="Consolas" pitchFamily="34" charset="0"/>
                <a:ea typeface="Consolas" pitchFamily="34" charset="-122"/>
                <a:cs typeface="Consolas" pitchFamily="34" charset="-120"/>
              </a:rPr>
              <a:t>github.com/roryp/spring-ai-webstore</a:t>
            </a:r>
            <a:endParaRPr lang="en-US" sz="1400" dirty="0"/>
          </a:p>
        </p:txBody>
      </p:sp>
      <p:sp>
        <p:nvSpPr>
          <p:cNvPr id="7" name="Shape 5"/>
          <p:cNvSpPr/>
          <p:nvPr/>
        </p:nvSpPr>
        <p:spPr>
          <a:xfrm>
            <a:off x="6400800" y="1356000"/>
            <a:ext cx="5212080" cy="4146001"/>
          </a:xfrm>
          <a:prstGeom prst="rect">
            <a:avLst/>
          </a:prstGeom>
          <a:solidFill>
            <a:srgbClr val="FFFFFF"/>
          </a:solidFill>
          <a:ln w="9525">
            <a:solidFill>
              <a:srgbClr val="FFFFFF"/>
            </a:solidFill>
            <a:prstDash val="solid"/>
          </a:ln>
          <a:effectLst>
            <a:outerShdw blurRad="228600" dist="76200" dir="5400000" algn="bl" rotWithShape="0">
              <a:srgbClr val="000000">
                <a:alpha val="35000"/>
              </a:srgbClr>
            </a:outerShdw>
          </a:effectLst>
        </p:spPr>
        <p:txBody>
          <a:bodyPr/>
          <a:lstStyle/>
          <a:p>
            <a:endParaRPr lang="en-ZA"/>
          </a:p>
        </p:txBody>
      </p:sp>
      <p:pic>
        <p:nvPicPr>
          <p:cNvPr id="8" name="Image 0" descr="The Trail Store page, with the AI assistant answering a question"/>
          <p:cNvPicPr>
            <a:picLocks noChangeAspect="1"/>
          </p:cNvPicPr>
          <p:nvPr/>
        </p:nvPicPr>
        <p:blipFill>
          <a:blip r:embed="rId3"/>
          <a:stretch>
            <a:fillRect/>
          </a:stretch>
        </p:blipFill>
        <p:spPr>
          <a:xfrm>
            <a:off x="6492240" y="1447440"/>
            <a:ext cx="5029200" cy="39631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242424"/>
                </a:solidFill>
                <a:latin typeface="Segoe UI Semibold" pitchFamily="34" charset="0"/>
                <a:ea typeface="Segoe UI Semibold" pitchFamily="34" charset="-122"/>
                <a:cs typeface="Segoe UI Semibold" pitchFamily="34" charset="-120"/>
              </a:rPr>
              <a:t>Four steps. One idea each.</a:t>
            </a:r>
            <a:endParaRPr lang="en-US" sz="32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marL="0" indent="0">
              <a:buNone/>
            </a:pPr>
            <a:r>
              <a:rPr lang="en-US" sz="1600" dirty="0">
                <a:solidFill>
                  <a:srgbClr val="5C5C5C"/>
                </a:solidFill>
                <a:latin typeface="Segoe UI" pitchFamily="34" charset="0"/>
                <a:ea typeface="Segoe UI" pitchFamily="34" charset="-122"/>
                <a:cs typeface="Segoe UI" pitchFamily="34" charset="-120"/>
              </a:rPr>
              <a:t>Each step is a folder in the repo, and each adds one idea to the step before it.</a:t>
            </a:r>
            <a:endParaRPr lang="en-US" sz="1600" dirty="0"/>
          </a:p>
        </p:txBody>
      </p:sp>
      <p:pic>
        <p:nvPicPr>
          <p:cNvPr id="4" name="Image 0" descr="The four steps: 1, run it on your laptop; 2, ship it to Azure with azd up; 3, add an AI assistant with Microsoft Foundry; 4, see inside with OpenTelemetry"/>
          <p:cNvPicPr>
            <a:picLocks noChangeAspect="1"/>
          </p:cNvPicPr>
          <p:nvPr/>
        </p:nvPicPr>
        <p:blipFill>
          <a:blip r:embed="rId3"/>
          <a:stretch>
            <a:fillRect/>
          </a:stretch>
        </p:blipFill>
        <p:spPr>
          <a:xfrm>
            <a:off x="365760" y="1952649"/>
            <a:ext cx="11457432" cy="39585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242424"/>
                </a:solidFill>
                <a:latin typeface="Segoe UI Semibold" pitchFamily="34" charset="0"/>
                <a:ea typeface="Segoe UI Semibold" pitchFamily="34" charset="-122"/>
                <a:cs typeface="Segoe UI Semibold" pitchFamily="34" charset="-120"/>
              </a:rPr>
              <a:t>Today: 45 minutes, only a browser</a:t>
            </a:r>
            <a:endParaRPr lang="en-US" sz="3200" dirty="0"/>
          </a:p>
        </p:txBody>
      </p:sp>
      <p:sp>
        <p:nvSpPr>
          <p:cNvPr id="3" name="Shape 1"/>
          <p:cNvSpPr/>
          <p:nvPr/>
        </p:nvSpPr>
        <p:spPr>
          <a:xfrm>
            <a:off x="548640" y="1463040"/>
            <a:ext cx="693725" cy="548640"/>
          </a:xfrm>
          <a:prstGeom prst="rect">
            <a:avLst/>
          </a:prstGeom>
          <a:solidFill>
            <a:srgbClr val="6F6F6F"/>
          </a:solidFill>
          <a:ln w="12700">
            <a:solidFill>
              <a:srgbClr val="6F6F6F"/>
            </a:solidFill>
            <a:prstDash val="solid"/>
          </a:ln>
        </p:spPr>
        <p:txBody>
          <a:bodyPr/>
          <a:lstStyle/>
          <a:p>
            <a:endParaRPr lang="en-ZA"/>
          </a:p>
        </p:txBody>
      </p:sp>
      <p:sp>
        <p:nvSpPr>
          <p:cNvPr id="4" name="Text 2"/>
          <p:cNvSpPr/>
          <p:nvPr/>
        </p:nvSpPr>
        <p:spPr>
          <a:xfrm>
            <a:off x="548640" y="1463040"/>
            <a:ext cx="693725" cy="548640"/>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3 min</a:t>
            </a:r>
            <a:endParaRPr lang="en-US" sz="1400" dirty="0"/>
          </a:p>
        </p:txBody>
      </p:sp>
      <p:sp>
        <p:nvSpPr>
          <p:cNvPr id="5" name="Text 3"/>
          <p:cNvSpPr/>
          <p:nvPr/>
        </p:nvSpPr>
        <p:spPr>
          <a:xfrm>
            <a:off x="548640" y="2103120"/>
            <a:ext cx="693725" cy="640080"/>
          </a:xfrm>
          <a:prstGeom prst="rect">
            <a:avLst/>
          </a:prstGeom>
          <a:noFill/>
          <a:ln/>
        </p:spPr>
        <p:txBody>
          <a:bodyPr wrap="square" lIns="0" tIns="0" rIns="0" bIns="0" rtlCol="0" anchor="t"/>
          <a:lstStyle/>
          <a:p>
            <a:pPr marL="0" indent="0">
              <a:buNone/>
            </a:pPr>
            <a:r>
              <a:rPr lang="en-US" sz="1400" b="1" dirty="0">
                <a:solidFill>
                  <a:srgbClr val="242424"/>
                </a:solidFill>
                <a:latin typeface="Segoe UI" pitchFamily="34" charset="0"/>
                <a:ea typeface="Segoe UI" pitchFamily="34" charset="-122"/>
                <a:cs typeface="Segoe UI" pitchFamily="34" charset="-120"/>
              </a:rPr>
              <a:t>Plan</a:t>
            </a:r>
            <a:endParaRPr lang="en-US" sz="1400" dirty="0"/>
          </a:p>
        </p:txBody>
      </p:sp>
      <p:sp>
        <p:nvSpPr>
          <p:cNvPr id="6" name="Shape 4"/>
          <p:cNvSpPr/>
          <p:nvPr/>
        </p:nvSpPr>
        <p:spPr>
          <a:xfrm>
            <a:off x="1288085" y="1463040"/>
            <a:ext cx="1679651" cy="548640"/>
          </a:xfrm>
          <a:prstGeom prst="rect">
            <a:avLst/>
          </a:prstGeom>
          <a:solidFill>
            <a:srgbClr val="B11F4B"/>
          </a:solidFill>
          <a:ln w="12700">
            <a:solidFill>
              <a:srgbClr val="B11F4B"/>
            </a:solidFill>
            <a:prstDash val="solid"/>
          </a:ln>
        </p:spPr>
        <p:txBody>
          <a:bodyPr/>
          <a:lstStyle/>
          <a:p>
            <a:endParaRPr lang="en-ZA"/>
          </a:p>
        </p:txBody>
      </p:sp>
      <p:sp>
        <p:nvSpPr>
          <p:cNvPr id="7" name="Text 5"/>
          <p:cNvSpPr/>
          <p:nvPr/>
        </p:nvSpPr>
        <p:spPr>
          <a:xfrm>
            <a:off x="1288085" y="1463040"/>
            <a:ext cx="1679651" cy="548640"/>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7 min</a:t>
            </a:r>
            <a:endParaRPr lang="en-US" sz="1400" dirty="0"/>
          </a:p>
        </p:txBody>
      </p:sp>
      <p:sp>
        <p:nvSpPr>
          <p:cNvPr id="8" name="Text 6"/>
          <p:cNvSpPr/>
          <p:nvPr/>
        </p:nvSpPr>
        <p:spPr>
          <a:xfrm>
            <a:off x="1288085" y="2103120"/>
            <a:ext cx="1679651" cy="640080"/>
          </a:xfrm>
          <a:prstGeom prst="rect">
            <a:avLst/>
          </a:prstGeom>
          <a:noFill/>
          <a:ln/>
        </p:spPr>
        <p:txBody>
          <a:bodyPr wrap="square" lIns="0" tIns="0" rIns="0" bIns="0" rtlCol="0" anchor="t"/>
          <a:lstStyle/>
          <a:p>
            <a:pPr marL="0" indent="0">
              <a:buNone/>
            </a:pPr>
            <a:r>
              <a:rPr lang="en-US" sz="1400" b="1" dirty="0">
                <a:solidFill>
                  <a:srgbClr val="242424"/>
                </a:solidFill>
                <a:latin typeface="Segoe UI" pitchFamily="34" charset="0"/>
                <a:ea typeface="Segoe UI" pitchFamily="34" charset="-122"/>
                <a:cs typeface="Segoe UI" pitchFamily="34" charset="-120"/>
              </a:rPr>
              <a:t>Step 1</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Run it</a:t>
            </a:r>
            <a:endParaRPr lang="en-US" sz="1400" dirty="0"/>
          </a:p>
        </p:txBody>
      </p:sp>
      <p:sp>
        <p:nvSpPr>
          <p:cNvPr id="9" name="Shape 7"/>
          <p:cNvSpPr/>
          <p:nvPr/>
        </p:nvSpPr>
        <p:spPr>
          <a:xfrm>
            <a:off x="3013456" y="1463040"/>
            <a:ext cx="2419096" cy="548640"/>
          </a:xfrm>
          <a:prstGeom prst="rect">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3013456" y="1463040"/>
            <a:ext cx="2419096" cy="548640"/>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10 min</a:t>
            </a:r>
            <a:endParaRPr lang="en-US" sz="1400" dirty="0"/>
          </a:p>
        </p:txBody>
      </p:sp>
      <p:sp>
        <p:nvSpPr>
          <p:cNvPr id="11" name="Text 9"/>
          <p:cNvSpPr/>
          <p:nvPr/>
        </p:nvSpPr>
        <p:spPr>
          <a:xfrm>
            <a:off x="3013456" y="2103120"/>
            <a:ext cx="2419096" cy="640080"/>
          </a:xfrm>
          <a:prstGeom prst="rect">
            <a:avLst/>
          </a:prstGeom>
          <a:noFill/>
          <a:ln/>
        </p:spPr>
        <p:txBody>
          <a:bodyPr wrap="square" lIns="0" tIns="0" rIns="0" bIns="0" rtlCol="0" anchor="t"/>
          <a:lstStyle/>
          <a:p>
            <a:pPr marL="0" indent="0">
              <a:buNone/>
            </a:pPr>
            <a:r>
              <a:rPr lang="en-US" sz="1400" b="1" dirty="0">
                <a:solidFill>
                  <a:srgbClr val="242424"/>
                </a:solidFill>
                <a:latin typeface="Segoe UI" pitchFamily="34" charset="0"/>
                <a:ea typeface="Segoe UI" pitchFamily="34" charset="-122"/>
                <a:cs typeface="Segoe UI" pitchFamily="34" charset="-120"/>
              </a:rPr>
              <a:t>Step 2</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Ship it</a:t>
            </a:r>
            <a:endParaRPr lang="en-US" sz="1400" dirty="0"/>
          </a:p>
        </p:txBody>
      </p:sp>
      <p:sp>
        <p:nvSpPr>
          <p:cNvPr id="12" name="Shape 10"/>
          <p:cNvSpPr/>
          <p:nvPr/>
        </p:nvSpPr>
        <p:spPr>
          <a:xfrm>
            <a:off x="5478272" y="1463040"/>
            <a:ext cx="2912059" cy="548640"/>
          </a:xfrm>
          <a:prstGeom prst="rect">
            <a:avLst/>
          </a:prstGeom>
          <a:solidFill>
            <a:srgbClr val="5C2D91"/>
          </a:solidFill>
          <a:ln w="12700">
            <a:solidFill>
              <a:srgbClr val="5C2D91"/>
            </a:solidFill>
            <a:prstDash val="solid"/>
          </a:ln>
        </p:spPr>
        <p:txBody>
          <a:bodyPr/>
          <a:lstStyle/>
          <a:p>
            <a:endParaRPr lang="en-ZA"/>
          </a:p>
        </p:txBody>
      </p:sp>
      <p:sp>
        <p:nvSpPr>
          <p:cNvPr id="13" name="Text 11"/>
          <p:cNvSpPr/>
          <p:nvPr/>
        </p:nvSpPr>
        <p:spPr>
          <a:xfrm>
            <a:off x="5478272" y="1463040"/>
            <a:ext cx="2912059" cy="548640"/>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12 min</a:t>
            </a:r>
            <a:endParaRPr lang="en-US" sz="1400" dirty="0"/>
          </a:p>
        </p:txBody>
      </p:sp>
      <p:sp>
        <p:nvSpPr>
          <p:cNvPr id="14" name="Text 12"/>
          <p:cNvSpPr/>
          <p:nvPr/>
        </p:nvSpPr>
        <p:spPr>
          <a:xfrm>
            <a:off x="5478272" y="2103120"/>
            <a:ext cx="2912059" cy="640080"/>
          </a:xfrm>
          <a:prstGeom prst="rect">
            <a:avLst/>
          </a:prstGeom>
          <a:noFill/>
          <a:ln/>
        </p:spPr>
        <p:txBody>
          <a:bodyPr wrap="square" lIns="0" tIns="0" rIns="0" bIns="0" rtlCol="0" anchor="t"/>
          <a:lstStyle/>
          <a:p>
            <a:pPr marL="0" indent="0">
              <a:buNone/>
            </a:pPr>
            <a:r>
              <a:rPr lang="en-US" sz="1400" b="1" dirty="0">
                <a:solidFill>
                  <a:srgbClr val="242424"/>
                </a:solidFill>
                <a:latin typeface="Segoe UI" pitchFamily="34" charset="0"/>
                <a:ea typeface="Segoe UI" pitchFamily="34" charset="-122"/>
                <a:cs typeface="Segoe UI" pitchFamily="34" charset="-120"/>
              </a:rPr>
              <a:t>Step 3</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Add AI</a:t>
            </a:r>
            <a:endParaRPr lang="en-US" sz="1400" dirty="0"/>
          </a:p>
        </p:txBody>
      </p:sp>
      <p:sp>
        <p:nvSpPr>
          <p:cNvPr id="15" name="Shape 13"/>
          <p:cNvSpPr/>
          <p:nvPr/>
        </p:nvSpPr>
        <p:spPr>
          <a:xfrm>
            <a:off x="8436051" y="1463040"/>
            <a:ext cx="1926133" cy="548640"/>
          </a:xfrm>
          <a:prstGeom prst="rect">
            <a:avLst/>
          </a:prstGeom>
          <a:solidFill>
            <a:srgbClr val="107C10"/>
          </a:solidFill>
          <a:ln w="12700">
            <a:solidFill>
              <a:srgbClr val="107C10"/>
            </a:solidFill>
            <a:prstDash val="solid"/>
          </a:ln>
        </p:spPr>
        <p:txBody>
          <a:bodyPr/>
          <a:lstStyle/>
          <a:p>
            <a:endParaRPr lang="en-ZA"/>
          </a:p>
        </p:txBody>
      </p:sp>
      <p:sp>
        <p:nvSpPr>
          <p:cNvPr id="16" name="Text 14"/>
          <p:cNvSpPr/>
          <p:nvPr/>
        </p:nvSpPr>
        <p:spPr>
          <a:xfrm>
            <a:off x="8436051" y="1463040"/>
            <a:ext cx="1926133" cy="548640"/>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8 min</a:t>
            </a:r>
            <a:endParaRPr lang="en-US" sz="1400" dirty="0"/>
          </a:p>
        </p:txBody>
      </p:sp>
      <p:sp>
        <p:nvSpPr>
          <p:cNvPr id="17" name="Text 15"/>
          <p:cNvSpPr/>
          <p:nvPr/>
        </p:nvSpPr>
        <p:spPr>
          <a:xfrm>
            <a:off x="8436051" y="2103120"/>
            <a:ext cx="1926133" cy="640080"/>
          </a:xfrm>
          <a:prstGeom prst="rect">
            <a:avLst/>
          </a:prstGeom>
          <a:noFill/>
          <a:ln/>
        </p:spPr>
        <p:txBody>
          <a:bodyPr wrap="square" lIns="0" tIns="0" rIns="0" bIns="0" rtlCol="0" anchor="t"/>
          <a:lstStyle/>
          <a:p>
            <a:pPr marL="0" indent="0">
              <a:buNone/>
            </a:pPr>
            <a:r>
              <a:rPr lang="en-US" sz="1400" b="1" dirty="0">
                <a:solidFill>
                  <a:srgbClr val="242424"/>
                </a:solidFill>
                <a:latin typeface="Segoe UI" pitchFamily="34" charset="0"/>
                <a:ea typeface="Segoe UI" pitchFamily="34" charset="-122"/>
                <a:cs typeface="Segoe UI" pitchFamily="34" charset="-120"/>
              </a:rPr>
              <a:t>Step 4</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See inside</a:t>
            </a:r>
            <a:endParaRPr lang="en-US" sz="1400" dirty="0"/>
          </a:p>
        </p:txBody>
      </p:sp>
      <p:sp>
        <p:nvSpPr>
          <p:cNvPr id="18" name="Shape 16"/>
          <p:cNvSpPr/>
          <p:nvPr/>
        </p:nvSpPr>
        <p:spPr>
          <a:xfrm>
            <a:off x="10407904" y="1463040"/>
            <a:ext cx="1232408" cy="548640"/>
          </a:xfrm>
          <a:prstGeom prst="rect">
            <a:avLst/>
          </a:prstGeom>
          <a:solidFill>
            <a:srgbClr val="6F6F6F"/>
          </a:solidFill>
          <a:ln w="12700">
            <a:solidFill>
              <a:srgbClr val="6F6F6F"/>
            </a:solidFill>
            <a:prstDash val="solid"/>
          </a:ln>
        </p:spPr>
        <p:txBody>
          <a:bodyPr/>
          <a:lstStyle/>
          <a:p>
            <a:endParaRPr lang="en-ZA"/>
          </a:p>
        </p:txBody>
      </p:sp>
      <p:sp>
        <p:nvSpPr>
          <p:cNvPr id="19" name="Text 17"/>
          <p:cNvSpPr/>
          <p:nvPr/>
        </p:nvSpPr>
        <p:spPr>
          <a:xfrm>
            <a:off x="10407904" y="1463040"/>
            <a:ext cx="1232408" cy="548640"/>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5 min</a:t>
            </a:r>
            <a:endParaRPr lang="en-US" sz="1400" dirty="0"/>
          </a:p>
        </p:txBody>
      </p:sp>
      <p:sp>
        <p:nvSpPr>
          <p:cNvPr id="20" name="Text 18"/>
          <p:cNvSpPr/>
          <p:nvPr/>
        </p:nvSpPr>
        <p:spPr>
          <a:xfrm>
            <a:off x="10407904" y="2103120"/>
            <a:ext cx="1232408" cy="640080"/>
          </a:xfrm>
          <a:prstGeom prst="rect">
            <a:avLst/>
          </a:prstGeom>
          <a:noFill/>
          <a:ln/>
        </p:spPr>
        <p:txBody>
          <a:bodyPr wrap="square" lIns="0" tIns="0" rIns="0" bIns="0" rtlCol="0" anchor="t"/>
          <a:lstStyle/>
          <a:p>
            <a:pPr marL="0" indent="0">
              <a:buNone/>
            </a:pPr>
            <a:r>
              <a:rPr lang="en-US" sz="1400" b="1" dirty="0">
                <a:solidFill>
                  <a:srgbClr val="242424"/>
                </a:solidFill>
                <a:latin typeface="Segoe UI" pitchFamily="34" charset="0"/>
                <a:ea typeface="Segoe UI" pitchFamily="34" charset="-122"/>
                <a:cs typeface="Segoe UI" pitchFamily="34" charset="-120"/>
              </a:rPr>
              <a:t>Wrap-up</a:t>
            </a:r>
            <a:endParaRPr lang="en-US" sz="1400" dirty="0"/>
          </a:p>
        </p:txBody>
      </p:sp>
      <p:sp>
        <p:nvSpPr>
          <p:cNvPr id="21" name="Shape 19"/>
          <p:cNvSpPr/>
          <p:nvPr/>
        </p:nvSpPr>
        <p:spPr>
          <a:xfrm>
            <a:off x="548640" y="3108960"/>
            <a:ext cx="5394960" cy="28346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22" name="Shape 20"/>
          <p:cNvSpPr/>
          <p:nvPr/>
        </p:nvSpPr>
        <p:spPr>
          <a:xfrm>
            <a:off x="548640" y="3108960"/>
            <a:ext cx="82296" cy="2834640"/>
          </a:xfrm>
          <a:prstGeom prst="rect">
            <a:avLst/>
          </a:prstGeom>
          <a:solidFill>
            <a:srgbClr val="B11F4B"/>
          </a:solidFill>
          <a:ln w="12700">
            <a:solidFill>
              <a:srgbClr val="B11F4B"/>
            </a:solidFill>
            <a:prstDash val="solid"/>
          </a:ln>
        </p:spPr>
        <p:txBody>
          <a:bodyPr/>
          <a:lstStyle/>
          <a:p>
            <a:endParaRPr lang="en-ZA"/>
          </a:p>
        </p:txBody>
      </p:sp>
      <p:sp>
        <p:nvSpPr>
          <p:cNvPr id="23" name="Text 21"/>
          <p:cNvSpPr/>
          <p:nvPr/>
        </p:nvSpPr>
        <p:spPr>
          <a:xfrm>
            <a:off x="868680" y="3337560"/>
            <a:ext cx="4846320" cy="274320"/>
          </a:xfrm>
          <a:prstGeom prst="rect">
            <a:avLst/>
          </a:prstGeom>
          <a:noFill/>
          <a:ln/>
        </p:spPr>
        <p:txBody>
          <a:bodyPr wrap="square" lIns="0" tIns="0" rIns="0" bIns="0" rtlCol="0" anchor="ctr"/>
          <a:lstStyle/>
          <a:p>
            <a:pPr marL="0" indent="0">
              <a:buNone/>
            </a:pPr>
            <a:r>
              <a:rPr lang="en-US" sz="1300" kern="0" spc="300" dirty="0">
                <a:solidFill>
                  <a:srgbClr val="B11F4B"/>
                </a:solidFill>
                <a:latin typeface="Segoe UI Semibold" pitchFamily="34" charset="0"/>
                <a:ea typeface="Segoe UI Semibold" pitchFamily="34" charset="-122"/>
                <a:cs typeface="Segoe UI Semibold" pitchFamily="34" charset="-120"/>
              </a:rPr>
              <a:t>YOU NEED</a:t>
            </a:r>
            <a:endParaRPr lang="en-US" sz="1300" dirty="0"/>
          </a:p>
        </p:txBody>
      </p:sp>
      <p:sp>
        <p:nvSpPr>
          <p:cNvPr id="24" name="Text 22"/>
          <p:cNvSpPr/>
          <p:nvPr/>
        </p:nvSpPr>
        <p:spPr>
          <a:xfrm>
            <a:off x="868680" y="3639312"/>
            <a:ext cx="4846320" cy="548640"/>
          </a:xfrm>
          <a:prstGeom prst="rect">
            <a:avLst/>
          </a:prstGeom>
          <a:noFill/>
          <a:ln/>
        </p:spPr>
        <p:txBody>
          <a:bodyPr wrap="square" lIns="0" tIns="0" rIns="0" bIns="0" rtlCol="0" anchor="ctr"/>
          <a:lstStyle/>
          <a:p>
            <a:pPr marL="0" indent="0">
              <a:buNone/>
            </a:pPr>
            <a:r>
              <a:rPr lang="en-US" sz="2800" dirty="0">
                <a:solidFill>
                  <a:srgbClr val="242424"/>
                </a:solidFill>
                <a:latin typeface="Segoe UI Semibold" pitchFamily="34" charset="0"/>
                <a:ea typeface="Segoe UI Semibold" pitchFamily="34" charset="-122"/>
                <a:cs typeface="Segoe UI Semibold" pitchFamily="34" charset="-120"/>
              </a:rPr>
              <a:t>A browser. That's all.</a:t>
            </a:r>
            <a:endParaRPr lang="en-US" sz="2800" dirty="0"/>
          </a:p>
        </p:txBody>
      </p:sp>
      <p:sp>
        <p:nvSpPr>
          <p:cNvPr id="25" name="Text 23"/>
          <p:cNvSpPr/>
          <p:nvPr/>
        </p:nvSpPr>
        <p:spPr>
          <a:xfrm>
            <a:off x="868680" y="4389120"/>
            <a:ext cx="4846320" cy="1371600"/>
          </a:xfrm>
          <a:prstGeom prst="rect">
            <a:avLst/>
          </a:prstGeom>
          <a:noFill/>
          <a:ln/>
        </p:spPr>
        <p:txBody>
          <a:bodyPr wrap="square" lIns="0" tIns="0" rIns="0" bIns="0" rtlCol="0" anchor="t"/>
          <a:lstStyle/>
          <a:p>
            <a:pPr marL="0" indent="0">
              <a:buNone/>
            </a:pPr>
            <a:r>
              <a:rPr lang="en-US" sz="1500" b="1" dirty="0">
                <a:solidFill>
                  <a:srgbClr val="242424"/>
                </a:solidFill>
                <a:latin typeface="Segoe UI" pitchFamily="34" charset="0"/>
                <a:ea typeface="Segoe UI" pitchFamily="34" charset="-122"/>
                <a:cs typeface="Segoe UI" pitchFamily="34" charset="-120"/>
              </a:rPr>
              <a:t>Code</a:t>
            </a:r>
            <a:endParaRPr lang="en-US" sz="1500" dirty="0"/>
          </a:p>
          <a:p>
            <a:pPr marL="0" indent="0">
              <a:buNone/>
            </a:pPr>
            <a:r>
              <a:rPr lang="en-US" sz="1500" dirty="0">
                <a:solidFill>
                  <a:srgbClr val="242424"/>
                </a:solidFill>
                <a:latin typeface="Consolas" pitchFamily="34" charset="0"/>
                <a:ea typeface="Consolas" pitchFamily="34" charset="-122"/>
                <a:cs typeface="Consolas" pitchFamily="34" charset="-120"/>
              </a:rPr>
              <a:t>github.com/roryp/spring-ai-webstore</a:t>
            </a:r>
            <a:endParaRPr lang="en-US" sz="1500" dirty="0"/>
          </a:p>
          <a:p>
            <a:pPr marL="0" indent="0">
              <a:buNone/>
            </a:pPr>
            <a:r>
              <a:rPr lang="en-US" sz="800" dirty="0">
                <a:solidFill>
                  <a:srgbClr val="242424"/>
                </a:solidFill>
                <a:latin typeface="Segoe UI" pitchFamily="34" charset="0"/>
                <a:ea typeface="Segoe UI" pitchFamily="34" charset="-122"/>
                <a:cs typeface="Segoe UI" pitchFamily="34" charset="-120"/>
              </a:rPr>
              <a:t xml:space="preserve"> </a:t>
            </a:r>
            <a:endParaRPr lang="en-US" sz="1500" dirty="0"/>
          </a:p>
          <a:p>
            <a:pPr marL="0" indent="0">
              <a:buNone/>
            </a:pPr>
            <a:r>
              <a:rPr lang="en-US" sz="1500" b="1" dirty="0">
                <a:solidFill>
                  <a:srgbClr val="242424"/>
                </a:solidFill>
                <a:latin typeface="Segoe UI" pitchFamily="34" charset="0"/>
                <a:ea typeface="Segoe UI" pitchFamily="34" charset="-122"/>
                <a:cs typeface="Segoe UI" pitchFamily="34" charset="-120"/>
              </a:rPr>
              <a:t>Live apps</a:t>
            </a:r>
            <a:endParaRPr lang="en-US" sz="1500" dirty="0"/>
          </a:p>
          <a:p>
            <a:pPr marL="0" indent="0">
              <a:buNone/>
            </a:pPr>
            <a:r>
              <a:rPr lang="en-US" sz="1500" dirty="0">
                <a:solidFill>
                  <a:srgbClr val="242424"/>
                </a:solidFill>
                <a:latin typeface="Segoe UI" pitchFamily="34" charset="0"/>
                <a:ea typeface="Segoe UI" pitchFamily="34" charset="-122"/>
                <a:cs typeface="Segoe UI" pitchFamily="34" charset="-120"/>
              </a:rPr>
              <a:t>Links from your presenter</a:t>
            </a:r>
            <a:endParaRPr lang="en-US" sz="1500" dirty="0"/>
          </a:p>
        </p:txBody>
      </p:sp>
      <p:sp>
        <p:nvSpPr>
          <p:cNvPr id="26" name="Shape 24"/>
          <p:cNvSpPr/>
          <p:nvPr/>
        </p:nvSpPr>
        <p:spPr>
          <a:xfrm>
            <a:off x="6245352" y="3108960"/>
            <a:ext cx="5394960" cy="28346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27" name="Shape 25"/>
          <p:cNvSpPr/>
          <p:nvPr/>
        </p:nvSpPr>
        <p:spPr>
          <a:xfrm>
            <a:off x="6245352" y="3108960"/>
            <a:ext cx="82296" cy="2834640"/>
          </a:xfrm>
          <a:prstGeom prst="rect">
            <a:avLst/>
          </a:prstGeom>
          <a:solidFill>
            <a:srgbClr val="B11F4B"/>
          </a:solidFill>
          <a:ln w="12700">
            <a:solidFill>
              <a:srgbClr val="B11F4B"/>
            </a:solidFill>
            <a:prstDash val="solid"/>
          </a:ln>
        </p:spPr>
        <p:txBody>
          <a:bodyPr/>
          <a:lstStyle/>
          <a:p>
            <a:endParaRPr lang="en-ZA"/>
          </a:p>
        </p:txBody>
      </p:sp>
      <p:sp>
        <p:nvSpPr>
          <p:cNvPr id="28" name="Text 26"/>
          <p:cNvSpPr/>
          <p:nvPr/>
        </p:nvSpPr>
        <p:spPr>
          <a:xfrm>
            <a:off x="6565392" y="3337560"/>
            <a:ext cx="4846320" cy="274320"/>
          </a:xfrm>
          <a:prstGeom prst="rect">
            <a:avLst/>
          </a:prstGeom>
          <a:noFill/>
          <a:ln/>
        </p:spPr>
        <p:txBody>
          <a:bodyPr wrap="square" lIns="0" tIns="0" rIns="0" bIns="0" rtlCol="0" anchor="ctr"/>
          <a:lstStyle/>
          <a:p>
            <a:pPr marL="0" indent="0">
              <a:buNone/>
            </a:pPr>
            <a:r>
              <a:rPr lang="en-US" sz="1300" kern="0" spc="300" dirty="0">
                <a:solidFill>
                  <a:srgbClr val="B11F4B"/>
                </a:solidFill>
                <a:latin typeface="Segoe UI Semibold" pitchFamily="34" charset="0"/>
                <a:ea typeface="Segoe UI Semibold" pitchFamily="34" charset="-122"/>
                <a:cs typeface="Segoe UI Semibold" pitchFamily="34" charset="-120"/>
              </a:rPr>
              <a:t>FOR EACH STEP</a:t>
            </a:r>
            <a:endParaRPr lang="en-US" sz="1300" dirty="0"/>
          </a:p>
        </p:txBody>
      </p:sp>
      <p:sp>
        <p:nvSpPr>
          <p:cNvPr id="29" name="Shape 27"/>
          <p:cNvSpPr/>
          <p:nvPr/>
        </p:nvSpPr>
        <p:spPr>
          <a:xfrm>
            <a:off x="6565392" y="3657600"/>
            <a:ext cx="384048" cy="384048"/>
          </a:xfrm>
          <a:prstGeom prst="ellipse">
            <a:avLst/>
          </a:prstGeom>
          <a:solidFill>
            <a:srgbClr val="B11F4B"/>
          </a:solidFill>
          <a:ln w="12700">
            <a:solidFill>
              <a:srgbClr val="B11F4B"/>
            </a:solidFill>
            <a:prstDash val="solid"/>
          </a:ln>
        </p:spPr>
        <p:txBody>
          <a:bodyPr/>
          <a:lstStyle/>
          <a:p>
            <a:endParaRPr lang="en-ZA"/>
          </a:p>
        </p:txBody>
      </p:sp>
      <p:sp>
        <p:nvSpPr>
          <p:cNvPr id="30" name="Text 28"/>
          <p:cNvSpPr/>
          <p:nvPr/>
        </p:nvSpPr>
        <p:spPr>
          <a:xfrm>
            <a:off x="6565392" y="3657600"/>
            <a:ext cx="384048" cy="384048"/>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1" name="Text 29"/>
          <p:cNvSpPr/>
          <p:nvPr/>
        </p:nvSpPr>
        <p:spPr>
          <a:xfrm>
            <a:off x="7132320" y="3639312"/>
            <a:ext cx="4297680" cy="420624"/>
          </a:xfrm>
          <a:prstGeom prst="rect">
            <a:avLst/>
          </a:prstGeom>
          <a:noFill/>
          <a:ln/>
        </p:spPr>
        <p:txBody>
          <a:bodyPr wrap="square" lIns="0" tIns="0" rIns="0" bIns="0" rtlCol="0" anchor="ctr"/>
          <a:lstStyle/>
          <a:p>
            <a:pPr marL="0" indent="0">
              <a:buNone/>
            </a:pPr>
            <a:r>
              <a:rPr lang="en-US" sz="1700" dirty="0">
                <a:solidFill>
                  <a:srgbClr val="242424"/>
                </a:solidFill>
                <a:latin typeface="Segoe UI" pitchFamily="34" charset="0"/>
                <a:ea typeface="Segoe UI" pitchFamily="34" charset="-122"/>
                <a:cs typeface="Segoe UI" pitchFamily="34" charset="-120"/>
              </a:rPr>
              <a:t>Look at the diagram</a:t>
            </a:r>
            <a:endParaRPr lang="en-US" sz="1700" dirty="0"/>
          </a:p>
        </p:txBody>
      </p:sp>
      <p:sp>
        <p:nvSpPr>
          <p:cNvPr id="32" name="Shape 30"/>
          <p:cNvSpPr/>
          <p:nvPr/>
        </p:nvSpPr>
        <p:spPr>
          <a:xfrm>
            <a:off x="6565392" y="4187952"/>
            <a:ext cx="384048" cy="384048"/>
          </a:xfrm>
          <a:prstGeom prst="ellipse">
            <a:avLst/>
          </a:prstGeom>
          <a:solidFill>
            <a:srgbClr val="B11F4B"/>
          </a:solidFill>
          <a:ln w="12700">
            <a:solidFill>
              <a:srgbClr val="B11F4B"/>
            </a:solidFill>
            <a:prstDash val="solid"/>
          </a:ln>
        </p:spPr>
        <p:txBody>
          <a:bodyPr/>
          <a:lstStyle/>
          <a:p>
            <a:endParaRPr lang="en-ZA"/>
          </a:p>
        </p:txBody>
      </p:sp>
      <p:sp>
        <p:nvSpPr>
          <p:cNvPr id="33" name="Text 31"/>
          <p:cNvSpPr/>
          <p:nvPr/>
        </p:nvSpPr>
        <p:spPr>
          <a:xfrm>
            <a:off x="6565392" y="4187952"/>
            <a:ext cx="384048" cy="384048"/>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4" name="Text 32"/>
          <p:cNvSpPr/>
          <p:nvPr/>
        </p:nvSpPr>
        <p:spPr>
          <a:xfrm>
            <a:off x="7132320" y="4169664"/>
            <a:ext cx="4297680" cy="420624"/>
          </a:xfrm>
          <a:prstGeom prst="rect">
            <a:avLst/>
          </a:prstGeom>
          <a:noFill/>
          <a:ln/>
        </p:spPr>
        <p:txBody>
          <a:bodyPr wrap="square" lIns="0" tIns="0" rIns="0" bIns="0" rtlCol="0" anchor="ctr"/>
          <a:lstStyle/>
          <a:p>
            <a:pPr marL="0" indent="0">
              <a:buNone/>
            </a:pPr>
            <a:r>
              <a:rPr lang="en-US" sz="1700" dirty="0">
                <a:solidFill>
                  <a:srgbClr val="242424"/>
                </a:solidFill>
                <a:latin typeface="Segoe UI" pitchFamily="34" charset="0"/>
                <a:ea typeface="Segoe UI" pitchFamily="34" charset="-122"/>
                <a:cs typeface="Segoe UI" pitchFamily="34" charset="-120"/>
              </a:rPr>
              <a:t>Read the code on GitHub</a:t>
            </a:r>
            <a:endParaRPr lang="en-US" sz="1700" dirty="0"/>
          </a:p>
        </p:txBody>
      </p:sp>
      <p:sp>
        <p:nvSpPr>
          <p:cNvPr id="35" name="Shape 33"/>
          <p:cNvSpPr/>
          <p:nvPr/>
        </p:nvSpPr>
        <p:spPr>
          <a:xfrm>
            <a:off x="6565392" y="4718304"/>
            <a:ext cx="384048" cy="384048"/>
          </a:xfrm>
          <a:prstGeom prst="ellipse">
            <a:avLst/>
          </a:prstGeom>
          <a:solidFill>
            <a:srgbClr val="B11F4B"/>
          </a:solidFill>
          <a:ln w="12700">
            <a:solidFill>
              <a:srgbClr val="B11F4B"/>
            </a:solidFill>
            <a:prstDash val="solid"/>
          </a:ln>
        </p:spPr>
        <p:txBody>
          <a:bodyPr/>
          <a:lstStyle/>
          <a:p>
            <a:endParaRPr lang="en-ZA"/>
          </a:p>
        </p:txBody>
      </p:sp>
      <p:sp>
        <p:nvSpPr>
          <p:cNvPr id="36" name="Text 34"/>
          <p:cNvSpPr/>
          <p:nvPr/>
        </p:nvSpPr>
        <p:spPr>
          <a:xfrm>
            <a:off x="6565392" y="4718304"/>
            <a:ext cx="384048" cy="384048"/>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7" name="Text 35"/>
          <p:cNvSpPr/>
          <p:nvPr/>
        </p:nvSpPr>
        <p:spPr>
          <a:xfrm>
            <a:off x="7132320" y="4700016"/>
            <a:ext cx="4297680" cy="420624"/>
          </a:xfrm>
          <a:prstGeom prst="rect">
            <a:avLst/>
          </a:prstGeom>
          <a:noFill/>
          <a:ln/>
        </p:spPr>
        <p:txBody>
          <a:bodyPr wrap="square" lIns="0" tIns="0" rIns="0" bIns="0" rtlCol="0" anchor="ctr"/>
          <a:lstStyle/>
          <a:p>
            <a:pPr marL="0" indent="0">
              <a:buNone/>
            </a:pPr>
            <a:r>
              <a:rPr lang="en-US" sz="1700" dirty="0">
                <a:solidFill>
                  <a:srgbClr val="242424"/>
                </a:solidFill>
                <a:latin typeface="Segoe UI" pitchFamily="34" charset="0"/>
                <a:ea typeface="Segoe UI" pitchFamily="34" charset="-122"/>
                <a:cs typeface="Segoe UI" pitchFamily="34" charset="-120"/>
              </a:rPr>
              <a:t>Try the live app</a:t>
            </a:r>
            <a:endParaRPr lang="en-US" sz="1700" dirty="0"/>
          </a:p>
        </p:txBody>
      </p:sp>
      <p:sp>
        <p:nvSpPr>
          <p:cNvPr id="38" name="Shape 36"/>
          <p:cNvSpPr/>
          <p:nvPr/>
        </p:nvSpPr>
        <p:spPr>
          <a:xfrm>
            <a:off x="6565392" y="5248656"/>
            <a:ext cx="384048" cy="384048"/>
          </a:xfrm>
          <a:prstGeom prst="ellipse">
            <a:avLst/>
          </a:prstGeom>
          <a:solidFill>
            <a:srgbClr val="B11F4B"/>
          </a:solidFill>
          <a:ln w="12700">
            <a:solidFill>
              <a:srgbClr val="B11F4B"/>
            </a:solidFill>
            <a:prstDash val="solid"/>
          </a:ln>
        </p:spPr>
        <p:txBody>
          <a:bodyPr/>
          <a:lstStyle/>
          <a:p>
            <a:endParaRPr lang="en-ZA"/>
          </a:p>
        </p:txBody>
      </p:sp>
      <p:sp>
        <p:nvSpPr>
          <p:cNvPr id="39" name="Text 37"/>
          <p:cNvSpPr/>
          <p:nvPr/>
        </p:nvSpPr>
        <p:spPr>
          <a:xfrm>
            <a:off x="6565392" y="5248656"/>
            <a:ext cx="384048" cy="384048"/>
          </a:xfrm>
          <a:prstGeom prst="rect">
            <a:avLst/>
          </a:prstGeom>
          <a:noFill/>
          <a:ln/>
        </p:spPr>
        <p:txBody>
          <a:bodyPr wrap="square" lIns="0" tIns="0" rIns="0" bIns="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0" name="Text 38"/>
          <p:cNvSpPr/>
          <p:nvPr/>
        </p:nvSpPr>
        <p:spPr>
          <a:xfrm>
            <a:off x="7132320" y="5230368"/>
            <a:ext cx="4297680" cy="420624"/>
          </a:xfrm>
          <a:prstGeom prst="rect">
            <a:avLst/>
          </a:prstGeom>
          <a:noFill/>
          <a:ln/>
        </p:spPr>
        <p:txBody>
          <a:bodyPr wrap="square" lIns="0" tIns="0" rIns="0" bIns="0" rtlCol="0" anchor="ctr"/>
          <a:lstStyle/>
          <a:p>
            <a:pPr marL="0" indent="0">
              <a:buNone/>
            </a:pPr>
            <a:r>
              <a:rPr lang="en-US" sz="1700" dirty="0">
                <a:solidFill>
                  <a:srgbClr val="242424"/>
                </a:solidFill>
                <a:latin typeface="Segoe UI" pitchFamily="34" charset="0"/>
                <a:ea typeface="Segoe UI" pitchFamily="34" charset="-122"/>
                <a:cs typeface="Segoe UI" pitchFamily="34" charset="-120"/>
              </a:rPr>
              <a:t>Answer the Find questions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B11F4B"/>
                </a:solidFill>
                <a:latin typeface="Segoe UI Semibold" pitchFamily="34" charset="0"/>
                <a:ea typeface="Segoe UI Semibold" pitchFamily="34" charset="-122"/>
                <a:cs typeface="Segoe UI Semibold" pitchFamily="34" charset="-120"/>
              </a:rPr>
              <a:t xml:space="preserve">Step 1   </a:t>
            </a:r>
            <a:r>
              <a:rPr lang="en-US" sz="3200" dirty="0">
                <a:solidFill>
                  <a:srgbClr val="242424"/>
                </a:solidFill>
                <a:latin typeface="Segoe UI Semibold" pitchFamily="34" charset="0"/>
                <a:ea typeface="Segoe UI Semibold" pitchFamily="34" charset="-122"/>
                <a:cs typeface="Segoe UI Semibold" pitchFamily="34" charset="-120"/>
              </a:rPr>
              <a:t>One app on your laptop</a:t>
            </a:r>
            <a:endParaRPr lang="en-US" sz="3200" dirty="0"/>
          </a:p>
        </p:txBody>
      </p:sp>
      <p:pic>
        <p:nvPicPr>
          <p:cNvPr id="3" name="Image 0" descr="The browser sends GET / to StoreController, which gets six products from Catalog, fills in index.html, and sends the page back"/>
          <p:cNvPicPr>
            <a:picLocks noChangeAspect="1"/>
          </p:cNvPicPr>
          <p:nvPr/>
        </p:nvPicPr>
        <p:blipFill>
          <a:blip r:embed="rId3"/>
          <a:stretch>
            <a:fillRect/>
          </a:stretch>
        </p:blipFill>
        <p:spPr>
          <a:xfrm>
            <a:off x="365760" y="1229831"/>
            <a:ext cx="11457432" cy="3849697"/>
          </a:xfrm>
          <a:prstGeom prst="rect">
            <a:avLst/>
          </a:prstGeom>
        </p:spPr>
      </p:pic>
      <p:sp>
        <p:nvSpPr>
          <p:cNvPr id="4" name="Shape 1"/>
          <p:cNvSpPr/>
          <p:nvPr/>
        </p:nvSpPr>
        <p:spPr>
          <a:xfrm>
            <a:off x="548640" y="5440680"/>
            <a:ext cx="11091672" cy="96012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5" name="Shape 2"/>
          <p:cNvSpPr/>
          <p:nvPr/>
        </p:nvSpPr>
        <p:spPr>
          <a:xfrm>
            <a:off x="548640" y="5440680"/>
            <a:ext cx="82296" cy="960120"/>
          </a:xfrm>
          <a:prstGeom prst="rect">
            <a:avLst/>
          </a:prstGeom>
          <a:solidFill>
            <a:srgbClr val="B11F4B"/>
          </a:solidFill>
          <a:ln w="12700">
            <a:solidFill>
              <a:srgbClr val="B11F4B"/>
            </a:solidFill>
            <a:prstDash val="solid"/>
          </a:ln>
        </p:spPr>
        <p:txBody>
          <a:bodyPr/>
          <a:lstStyle/>
          <a:p>
            <a:endParaRPr lang="en-ZA"/>
          </a:p>
        </p:txBody>
      </p:sp>
      <p:sp>
        <p:nvSpPr>
          <p:cNvPr id="6" name="Text 3"/>
          <p:cNvSpPr/>
          <p:nvPr/>
        </p:nvSpPr>
        <p:spPr>
          <a:xfrm>
            <a:off x="868680" y="5568696"/>
            <a:ext cx="3566160" cy="274320"/>
          </a:xfrm>
          <a:prstGeom prst="rect">
            <a:avLst/>
          </a:prstGeom>
          <a:noFill/>
          <a:ln/>
        </p:spPr>
        <p:txBody>
          <a:bodyPr wrap="square" lIns="0" tIns="0" rIns="0" bIns="0" rtlCol="0" anchor="ctr"/>
          <a:lstStyle/>
          <a:p>
            <a:pPr marL="0" indent="0">
              <a:buNone/>
            </a:pPr>
            <a:r>
              <a:rPr lang="en-US" sz="1300" kern="0" spc="300" dirty="0">
                <a:solidFill>
                  <a:srgbClr val="B11F4B"/>
                </a:solidFill>
                <a:latin typeface="Segoe UI Semibold" pitchFamily="34" charset="0"/>
                <a:ea typeface="Segoe UI Semibold" pitchFamily="34" charset="-122"/>
                <a:cs typeface="Segoe UI Semibold" pitchFamily="34" charset="-120"/>
              </a:rPr>
              <a:t>READ</a:t>
            </a:r>
            <a:endParaRPr lang="en-US" sz="1300" dirty="0"/>
          </a:p>
        </p:txBody>
      </p:sp>
      <p:sp>
        <p:nvSpPr>
          <p:cNvPr id="7" name="Text 4"/>
          <p:cNvSpPr/>
          <p:nvPr/>
        </p:nvSpPr>
        <p:spPr>
          <a:xfrm>
            <a:off x="868680" y="5843016"/>
            <a:ext cx="3566160" cy="457200"/>
          </a:xfrm>
          <a:prstGeom prst="rect">
            <a:avLst/>
          </a:prstGeom>
          <a:noFill/>
          <a:ln/>
        </p:spPr>
        <p:txBody>
          <a:bodyPr wrap="square" lIns="0" tIns="0" rIns="0" bIns="0" rtlCol="0" anchor="t"/>
          <a:lstStyle/>
          <a:p>
            <a:pPr marL="0" indent="0">
              <a:buNone/>
            </a:pPr>
            <a:r>
              <a:rPr lang="en-US" sz="1300" dirty="0">
                <a:solidFill>
                  <a:srgbClr val="242424"/>
                </a:solidFill>
                <a:latin typeface="Consolas" pitchFamily="34" charset="0"/>
                <a:ea typeface="Consolas" pitchFamily="34" charset="-122"/>
                <a:cs typeface="Consolas" pitchFamily="34" charset="-120"/>
              </a:rPr>
              <a:t>Product.java   Catalog.java   StoreController.java</a:t>
            </a:r>
            <a:endParaRPr lang="en-US" sz="1300" dirty="0"/>
          </a:p>
        </p:txBody>
      </p:sp>
      <p:sp>
        <p:nvSpPr>
          <p:cNvPr id="8" name="Text 5"/>
          <p:cNvSpPr/>
          <p:nvPr/>
        </p:nvSpPr>
        <p:spPr>
          <a:xfrm>
            <a:off x="4709160" y="5568696"/>
            <a:ext cx="6675120" cy="274320"/>
          </a:xfrm>
          <a:prstGeom prst="rect">
            <a:avLst/>
          </a:prstGeom>
          <a:noFill/>
          <a:ln/>
        </p:spPr>
        <p:txBody>
          <a:bodyPr wrap="square" lIns="0" tIns="0" rIns="0" bIns="0" rtlCol="0" anchor="ctr"/>
          <a:lstStyle/>
          <a:p>
            <a:pPr marL="0" indent="0">
              <a:buNone/>
            </a:pPr>
            <a:r>
              <a:rPr lang="en-US" sz="1300" kern="0" spc="300" dirty="0">
                <a:solidFill>
                  <a:srgbClr val="B11F4B"/>
                </a:solidFill>
                <a:latin typeface="Segoe UI Semibold" pitchFamily="34" charset="0"/>
                <a:ea typeface="Segoe UI Semibold" pitchFamily="34" charset="-122"/>
                <a:cs typeface="Segoe UI Semibold" pitchFamily="34" charset="-120"/>
              </a:rPr>
              <a:t>FIND</a:t>
            </a:r>
            <a:endParaRPr lang="en-US" sz="1300" dirty="0"/>
          </a:p>
        </p:txBody>
      </p:sp>
      <p:sp>
        <p:nvSpPr>
          <p:cNvPr id="9" name="Text 6"/>
          <p:cNvSpPr/>
          <p:nvPr/>
        </p:nvSpPr>
        <p:spPr>
          <a:xfrm>
            <a:off x="4709160" y="5843016"/>
            <a:ext cx="6720840" cy="457200"/>
          </a:xfrm>
          <a:prstGeom prst="rect">
            <a:avLst/>
          </a:prstGeom>
          <a:noFill/>
          <a:ln/>
        </p:spPr>
        <p:txBody>
          <a:bodyPr wrap="square" lIns="0" tIns="0" rIns="0" bIns="0" rtlCol="0" anchor="t"/>
          <a:lstStyle/>
          <a:p>
            <a:pPr marL="0" indent="0">
              <a:buNone/>
            </a:pPr>
            <a:r>
              <a:rPr lang="en-US" sz="1400" dirty="0">
                <a:solidFill>
                  <a:srgbClr val="242424"/>
                </a:solidFill>
                <a:latin typeface="Segoe UI" pitchFamily="34" charset="0"/>
                <a:ea typeface="Segoe UI" pitchFamily="34" charset="-122"/>
                <a:cs typeface="Segoe UI" pitchFamily="34" charset="-120"/>
              </a:rPr>
              <a:t>How many products are there?</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Which one is out of stock?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005A9E"/>
                </a:solidFill>
                <a:latin typeface="Segoe UI Semibold" pitchFamily="34" charset="0"/>
                <a:ea typeface="Segoe UI Semibold" pitchFamily="34" charset="-122"/>
                <a:cs typeface="Segoe UI Semibold" pitchFamily="34" charset="-120"/>
              </a:rPr>
              <a:t xml:space="preserve">Step 2   </a:t>
            </a:r>
            <a:r>
              <a:rPr lang="en-US" sz="3200" dirty="0">
                <a:solidFill>
                  <a:srgbClr val="242424"/>
                </a:solidFill>
                <a:latin typeface="Segoe UI Semibold" pitchFamily="34" charset="0"/>
                <a:ea typeface="Segoe UI Semibold" pitchFamily="34" charset="-122"/>
                <a:cs typeface="Segoe UI Semibold" pitchFamily="34" charset="-120"/>
              </a:rPr>
              <a:t>One command puts the app on Azure</a:t>
            </a:r>
            <a:endParaRPr lang="en-US" sz="3200" dirty="0"/>
          </a:p>
        </p:txBody>
      </p:sp>
      <p:pic>
        <p:nvPicPr>
          <p:cNvPr id="3" name="Image 0" descr="azd up creates a container registry, a managed identity and a container app in one resource group, builds the image in Azure, and deploys it behind a public HTTPS address"/>
          <p:cNvPicPr>
            <a:picLocks noChangeAspect="1"/>
          </p:cNvPicPr>
          <p:nvPr/>
        </p:nvPicPr>
        <p:blipFill>
          <a:blip r:embed="rId3"/>
          <a:stretch>
            <a:fillRect/>
          </a:stretch>
        </p:blipFill>
        <p:spPr>
          <a:xfrm>
            <a:off x="365760" y="1181137"/>
            <a:ext cx="11457432" cy="3947085"/>
          </a:xfrm>
          <a:prstGeom prst="rect">
            <a:avLst/>
          </a:prstGeom>
        </p:spPr>
      </p:pic>
      <p:sp>
        <p:nvSpPr>
          <p:cNvPr id="4" name="Shape 1"/>
          <p:cNvSpPr/>
          <p:nvPr/>
        </p:nvSpPr>
        <p:spPr>
          <a:xfrm>
            <a:off x="548640" y="5440680"/>
            <a:ext cx="11091672" cy="96012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5" name="Shape 2"/>
          <p:cNvSpPr/>
          <p:nvPr/>
        </p:nvSpPr>
        <p:spPr>
          <a:xfrm>
            <a:off x="548640" y="5440680"/>
            <a:ext cx="82296" cy="960120"/>
          </a:xfrm>
          <a:prstGeom prst="rect">
            <a:avLst/>
          </a:prstGeom>
          <a:solidFill>
            <a:srgbClr val="0078D4"/>
          </a:solidFill>
          <a:ln w="12700">
            <a:solidFill>
              <a:srgbClr val="0078D4"/>
            </a:solidFill>
            <a:prstDash val="solid"/>
          </a:ln>
        </p:spPr>
        <p:txBody>
          <a:bodyPr/>
          <a:lstStyle/>
          <a:p>
            <a:endParaRPr lang="en-ZA"/>
          </a:p>
        </p:txBody>
      </p:sp>
      <p:sp>
        <p:nvSpPr>
          <p:cNvPr id="6" name="Text 3"/>
          <p:cNvSpPr/>
          <p:nvPr/>
        </p:nvSpPr>
        <p:spPr>
          <a:xfrm>
            <a:off x="868680" y="5568696"/>
            <a:ext cx="3566160" cy="274320"/>
          </a:xfrm>
          <a:prstGeom prst="rect">
            <a:avLst/>
          </a:prstGeom>
          <a:noFill/>
          <a:ln/>
        </p:spPr>
        <p:txBody>
          <a:bodyPr wrap="square" lIns="0" tIns="0" rIns="0" bIns="0" rtlCol="0" anchor="ctr"/>
          <a:lstStyle/>
          <a:p>
            <a:pPr marL="0" indent="0">
              <a:buNone/>
            </a:pPr>
            <a:r>
              <a:rPr lang="en-US" sz="1300" kern="0" spc="300" dirty="0">
                <a:solidFill>
                  <a:srgbClr val="005A9E"/>
                </a:solidFill>
                <a:latin typeface="Segoe UI Semibold" pitchFamily="34" charset="0"/>
                <a:ea typeface="Segoe UI Semibold" pitchFamily="34" charset="-122"/>
                <a:cs typeface="Segoe UI Semibold" pitchFamily="34" charset="-120"/>
              </a:rPr>
              <a:t>READ</a:t>
            </a:r>
            <a:endParaRPr lang="en-US" sz="1300" dirty="0"/>
          </a:p>
        </p:txBody>
      </p:sp>
      <p:sp>
        <p:nvSpPr>
          <p:cNvPr id="7" name="Text 4"/>
          <p:cNvSpPr/>
          <p:nvPr/>
        </p:nvSpPr>
        <p:spPr>
          <a:xfrm>
            <a:off x="868680" y="5843016"/>
            <a:ext cx="3566160" cy="457200"/>
          </a:xfrm>
          <a:prstGeom prst="rect">
            <a:avLst/>
          </a:prstGeom>
          <a:noFill/>
          <a:ln/>
        </p:spPr>
        <p:txBody>
          <a:bodyPr wrap="square" lIns="0" tIns="0" rIns="0" bIns="0" rtlCol="0" anchor="t"/>
          <a:lstStyle/>
          <a:p>
            <a:pPr marL="0" indent="0">
              <a:buNone/>
            </a:pPr>
            <a:r>
              <a:rPr lang="en-US" sz="1300" dirty="0">
                <a:solidFill>
                  <a:srgbClr val="242424"/>
                </a:solidFill>
                <a:latin typeface="Consolas" pitchFamily="34" charset="0"/>
                <a:ea typeface="Consolas" pitchFamily="34" charset="-122"/>
                <a:cs typeface="Consolas" pitchFamily="34" charset="-120"/>
              </a:rPr>
              <a:t>Dockerfile   azure.yaml   infra/app.bicep</a:t>
            </a:r>
            <a:endParaRPr lang="en-US" sz="1300" dirty="0"/>
          </a:p>
        </p:txBody>
      </p:sp>
      <p:sp>
        <p:nvSpPr>
          <p:cNvPr id="8" name="Text 5"/>
          <p:cNvSpPr/>
          <p:nvPr/>
        </p:nvSpPr>
        <p:spPr>
          <a:xfrm>
            <a:off x="4709160" y="5568696"/>
            <a:ext cx="6675120" cy="274320"/>
          </a:xfrm>
          <a:prstGeom prst="rect">
            <a:avLst/>
          </a:prstGeom>
          <a:noFill/>
          <a:ln/>
        </p:spPr>
        <p:txBody>
          <a:bodyPr wrap="square" lIns="0" tIns="0" rIns="0" bIns="0" rtlCol="0" anchor="ctr"/>
          <a:lstStyle/>
          <a:p>
            <a:pPr marL="0" indent="0">
              <a:buNone/>
            </a:pPr>
            <a:r>
              <a:rPr lang="en-US" sz="1300" kern="0" spc="300" dirty="0">
                <a:solidFill>
                  <a:srgbClr val="005A9E"/>
                </a:solidFill>
                <a:latin typeface="Segoe UI Semibold" pitchFamily="34" charset="0"/>
                <a:ea typeface="Segoe UI Semibold" pitchFamily="34" charset="-122"/>
                <a:cs typeface="Segoe UI Semibold" pitchFamily="34" charset="-120"/>
              </a:rPr>
              <a:t>FIND</a:t>
            </a:r>
            <a:endParaRPr lang="en-US" sz="1300" dirty="0"/>
          </a:p>
        </p:txBody>
      </p:sp>
      <p:sp>
        <p:nvSpPr>
          <p:cNvPr id="9" name="Text 6"/>
          <p:cNvSpPr/>
          <p:nvPr/>
        </p:nvSpPr>
        <p:spPr>
          <a:xfrm>
            <a:off x="4709160" y="5843016"/>
            <a:ext cx="6720840" cy="457200"/>
          </a:xfrm>
          <a:prstGeom prst="rect">
            <a:avLst/>
          </a:prstGeom>
          <a:noFill/>
          <a:ln/>
        </p:spPr>
        <p:txBody>
          <a:bodyPr wrap="square" lIns="0" tIns="0" rIns="0" bIns="0" rtlCol="0" anchor="t"/>
          <a:lstStyle/>
          <a:p>
            <a:pPr marL="0" indent="0">
              <a:buNone/>
            </a:pPr>
            <a:r>
              <a:rPr lang="en-US" sz="1400" dirty="0">
                <a:solidFill>
                  <a:srgbClr val="242424"/>
                </a:solidFill>
                <a:latin typeface="Segoe UI" pitchFamily="34" charset="0"/>
                <a:ea typeface="Segoe UI" pitchFamily="34" charset="-122"/>
                <a:cs typeface="Segoe UI" pitchFamily="34" charset="-120"/>
              </a:rPr>
              <a:t>Which line in app.bicep lets the app scale to zero?</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How does the app pull its image without a password?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5C2D91"/>
                </a:solidFill>
                <a:latin typeface="Segoe UI Semibold" pitchFamily="34" charset="0"/>
                <a:ea typeface="Segoe UI Semibold" pitchFamily="34" charset="-122"/>
                <a:cs typeface="Segoe UI Semibold" pitchFamily="34" charset="-120"/>
              </a:rPr>
              <a:t xml:space="preserve">Step 3   </a:t>
            </a:r>
            <a:r>
              <a:rPr lang="en-US" sz="3200" dirty="0">
                <a:solidFill>
                  <a:srgbClr val="242424"/>
                </a:solidFill>
                <a:latin typeface="Segoe UI Semibold" pitchFamily="34" charset="0"/>
                <a:ea typeface="Segoe UI Semibold" pitchFamily="34" charset="-122"/>
                <a:cs typeface="Segoe UI Semibold" pitchFamily="34" charset="-120"/>
              </a:rPr>
              <a:t>How a question gets answered</a:t>
            </a:r>
            <a:endParaRPr lang="en-US" sz="3200" dirty="0"/>
          </a:p>
        </p:txBody>
      </p:sp>
      <p:pic>
        <p:nvPicPr>
          <p:cNvPr id="3" name="Image 0" descr="Eight numbered messages between you, the app, the listProducts tool and the model: two calls to the model, with one call to the Java tool in between"/>
          <p:cNvPicPr>
            <a:picLocks noChangeAspect="1"/>
          </p:cNvPicPr>
          <p:nvPr/>
        </p:nvPicPr>
        <p:blipFill>
          <a:blip r:embed="rId3"/>
          <a:stretch>
            <a:fillRect/>
          </a:stretch>
        </p:blipFill>
        <p:spPr>
          <a:xfrm>
            <a:off x="669283" y="1051560"/>
            <a:ext cx="10850385" cy="5349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242424"/>
                </a:solidFill>
                <a:latin typeface="Segoe UI Semibold" pitchFamily="34" charset="0"/>
                <a:ea typeface="Segoe UI Semibold" pitchFamily="34" charset="-122"/>
                <a:cs typeface="Segoe UI Semibold" pitchFamily="34" charset="-120"/>
              </a:rPr>
              <a:t>Your turn: read it, then ask the store</a:t>
            </a:r>
            <a:endParaRPr lang="en-US" sz="3200" dirty="0"/>
          </a:p>
        </p:txBody>
      </p:sp>
      <p:sp>
        <p:nvSpPr>
          <p:cNvPr id="3" name="Shape 1"/>
          <p:cNvSpPr/>
          <p:nvPr/>
        </p:nvSpPr>
        <p:spPr>
          <a:xfrm>
            <a:off x="548640" y="1325880"/>
            <a:ext cx="5623560" cy="4470256"/>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pic>
        <p:nvPicPr>
          <p:cNvPr id="4" name="Image 0" descr="The step 3 store page, answering whether the Summit Waterproof Jacket is in stock"/>
          <p:cNvPicPr>
            <a:picLocks noChangeAspect="1"/>
          </p:cNvPicPr>
          <p:nvPr/>
        </p:nvPicPr>
        <p:blipFill>
          <a:blip r:embed="rId3"/>
          <a:stretch>
            <a:fillRect/>
          </a:stretch>
        </p:blipFill>
        <p:spPr>
          <a:xfrm>
            <a:off x="640080" y="1417320"/>
            <a:ext cx="5440680" cy="4287376"/>
          </a:xfrm>
          <a:prstGeom prst="rect">
            <a:avLst/>
          </a:prstGeom>
        </p:spPr>
      </p:pic>
      <p:sp>
        <p:nvSpPr>
          <p:cNvPr id="5" name="Shape 2"/>
          <p:cNvSpPr/>
          <p:nvPr/>
        </p:nvSpPr>
        <p:spPr>
          <a:xfrm>
            <a:off x="6446520" y="1325880"/>
            <a:ext cx="5193792" cy="16916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6" name="Shape 3"/>
          <p:cNvSpPr/>
          <p:nvPr/>
        </p:nvSpPr>
        <p:spPr>
          <a:xfrm>
            <a:off x="6446520" y="1325880"/>
            <a:ext cx="82296" cy="1691640"/>
          </a:xfrm>
          <a:prstGeom prst="rect">
            <a:avLst/>
          </a:prstGeom>
          <a:solidFill>
            <a:srgbClr val="5C2D91"/>
          </a:solidFill>
          <a:ln w="12700">
            <a:solidFill>
              <a:srgbClr val="5C2D91"/>
            </a:solidFill>
            <a:prstDash val="solid"/>
          </a:ln>
        </p:spPr>
        <p:txBody>
          <a:bodyPr/>
          <a:lstStyle/>
          <a:p>
            <a:endParaRPr lang="en-ZA"/>
          </a:p>
        </p:txBody>
      </p:sp>
      <p:sp>
        <p:nvSpPr>
          <p:cNvPr id="7" name="Text 4"/>
          <p:cNvSpPr/>
          <p:nvPr/>
        </p:nvSpPr>
        <p:spPr>
          <a:xfrm>
            <a:off x="6766560" y="1463040"/>
            <a:ext cx="4645152" cy="274320"/>
          </a:xfrm>
          <a:prstGeom prst="rect">
            <a:avLst/>
          </a:prstGeom>
          <a:noFill/>
          <a:ln/>
        </p:spPr>
        <p:txBody>
          <a:bodyPr wrap="square" lIns="0" tIns="0" rIns="0" bIns="0" rtlCol="0" anchor="ctr"/>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READ</a:t>
            </a:r>
            <a:endParaRPr lang="en-US" sz="1300" dirty="0"/>
          </a:p>
        </p:txBody>
      </p:sp>
      <p:sp>
        <p:nvSpPr>
          <p:cNvPr id="8" name="Text 5"/>
          <p:cNvSpPr/>
          <p:nvPr/>
        </p:nvSpPr>
        <p:spPr>
          <a:xfrm>
            <a:off x="6766560" y="1755648"/>
            <a:ext cx="4645152" cy="274320"/>
          </a:xfrm>
          <a:prstGeom prst="rect">
            <a:avLst/>
          </a:prstGeom>
          <a:noFill/>
          <a:ln/>
        </p:spPr>
        <p:txBody>
          <a:bodyPr wrap="square" lIns="0" tIns="0" rIns="0" bIns="0" rtlCol="0" anchor="t"/>
          <a:lstStyle/>
          <a:p>
            <a:pPr marL="0" indent="0">
              <a:buNone/>
            </a:pPr>
            <a:r>
              <a:rPr lang="en-US" sz="1300" dirty="0">
                <a:solidFill>
                  <a:srgbClr val="242424"/>
                </a:solidFill>
                <a:latin typeface="Consolas" pitchFamily="34" charset="0"/>
                <a:ea typeface="Consolas" pitchFamily="34" charset="-122"/>
                <a:cs typeface="Consolas" pitchFamily="34" charset="-120"/>
              </a:rPr>
              <a:t>InventoryTools.java   ChatController.java</a:t>
            </a:r>
            <a:endParaRPr lang="en-US" sz="1300" dirty="0"/>
          </a:p>
        </p:txBody>
      </p:sp>
      <p:sp>
        <p:nvSpPr>
          <p:cNvPr id="9" name="Text 6"/>
          <p:cNvSpPr/>
          <p:nvPr/>
        </p:nvSpPr>
        <p:spPr>
          <a:xfrm>
            <a:off x="6766560" y="2121408"/>
            <a:ext cx="4645152" cy="274320"/>
          </a:xfrm>
          <a:prstGeom prst="rect">
            <a:avLst/>
          </a:prstGeom>
          <a:noFill/>
          <a:ln/>
        </p:spPr>
        <p:txBody>
          <a:bodyPr wrap="square" lIns="0" tIns="0" rIns="0" bIns="0" rtlCol="0" anchor="ctr"/>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FIND</a:t>
            </a:r>
            <a:endParaRPr lang="en-US" sz="1300" dirty="0"/>
          </a:p>
        </p:txBody>
      </p:sp>
      <p:sp>
        <p:nvSpPr>
          <p:cNvPr id="10" name="Text 7"/>
          <p:cNvSpPr/>
          <p:nvPr/>
        </p:nvSpPr>
        <p:spPr>
          <a:xfrm>
            <a:off x="6766560" y="2404872"/>
            <a:ext cx="4645152" cy="502920"/>
          </a:xfrm>
          <a:prstGeom prst="rect">
            <a:avLst/>
          </a:prstGeom>
          <a:noFill/>
          <a:ln/>
        </p:spPr>
        <p:txBody>
          <a:bodyPr wrap="square" lIns="0" tIns="0" rIns="0" bIns="0" rtlCol="0" anchor="t"/>
          <a:lstStyle/>
          <a:p>
            <a:pPr marL="0" indent="0">
              <a:buNone/>
            </a:pPr>
            <a:r>
              <a:rPr lang="en-US" sz="1400" dirty="0">
                <a:solidFill>
                  <a:srgbClr val="242424"/>
                </a:solidFill>
                <a:latin typeface="Segoe UI" pitchFamily="34" charset="0"/>
                <a:ea typeface="Segoe UI" pitchFamily="34" charset="-122"/>
                <a:cs typeface="Segoe UI" pitchFamily="34" charset="-120"/>
              </a:rPr>
              <a:t>How does the app get permission to use the model?</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Is there an API key anywhere?</a:t>
            </a:r>
            <a:endParaRPr lang="en-US" sz="1400" dirty="0"/>
          </a:p>
        </p:txBody>
      </p:sp>
      <p:sp>
        <p:nvSpPr>
          <p:cNvPr id="11" name="Text 8"/>
          <p:cNvSpPr/>
          <p:nvPr/>
        </p:nvSpPr>
        <p:spPr>
          <a:xfrm>
            <a:off x="6446520" y="3246120"/>
            <a:ext cx="5193792" cy="320040"/>
          </a:xfrm>
          <a:prstGeom prst="rect">
            <a:avLst/>
          </a:prstGeom>
          <a:noFill/>
          <a:ln/>
        </p:spPr>
        <p:txBody>
          <a:bodyPr wrap="square" lIns="0" tIns="0" rIns="0" bIns="0" rtlCol="0" anchor="ctr"/>
          <a:lstStyle/>
          <a:p>
            <a:pPr marL="0" indent="0">
              <a:buNone/>
            </a:pPr>
            <a:r>
              <a:rPr lang="en-US" sz="1600" dirty="0">
                <a:solidFill>
                  <a:srgbClr val="242424"/>
                </a:solidFill>
                <a:latin typeface="Segoe UI Semibold" pitchFamily="34" charset="0"/>
                <a:ea typeface="Segoe UI Semibold" pitchFamily="34" charset="-122"/>
                <a:cs typeface="Segoe UI Semibold" pitchFamily="34" charset="-120"/>
              </a:rPr>
              <a:t>Then ask the store one question:</a:t>
            </a:r>
            <a:endParaRPr lang="en-US" sz="1600" dirty="0"/>
          </a:p>
        </p:txBody>
      </p:sp>
      <p:sp>
        <p:nvSpPr>
          <p:cNvPr id="12" name="Shape 9"/>
          <p:cNvSpPr/>
          <p:nvPr/>
        </p:nvSpPr>
        <p:spPr>
          <a:xfrm>
            <a:off x="6446520" y="3639312"/>
            <a:ext cx="5193792" cy="41148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3" name="Shape 10"/>
          <p:cNvSpPr/>
          <p:nvPr/>
        </p:nvSpPr>
        <p:spPr>
          <a:xfrm>
            <a:off x="6446520" y="3639312"/>
            <a:ext cx="82296" cy="411480"/>
          </a:xfrm>
          <a:prstGeom prst="rect">
            <a:avLst/>
          </a:prstGeom>
          <a:solidFill>
            <a:srgbClr val="B11F4B"/>
          </a:solidFill>
          <a:ln w="12700">
            <a:solidFill>
              <a:srgbClr val="B11F4B"/>
            </a:solidFill>
            <a:prstDash val="solid"/>
          </a:ln>
        </p:spPr>
        <p:txBody>
          <a:bodyPr/>
          <a:lstStyle/>
          <a:p>
            <a:endParaRPr lang="en-ZA"/>
          </a:p>
        </p:txBody>
      </p:sp>
      <p:sp>
        <p:nvSpPr>
          <p:cNvPr id="14" name="Text 11"/>
          <p:cNvSpPr/>
          <p:nvPr/>
        </p:nvSpPr>
        <p:spPr>
          <a:xfrm>
            <a:off x="6766560" y="3639312"/>
            <a:ext cx="4645152" cy="411480"/>
          </a:xfrm>
          <a:prstGeom prst="rect">
            <a:avLst/>
          </a:prstGeom>
          <a:noFill/>
          <a:ln/>
        </p:spPr>
        <p:txBody>
          <a:bodyPr wrap="square" lIns="0" tIns="0" rIns="0" bIns="0" rtlCol="0" anchor="ctr"/>
          <a:lstStyle/>
          <a:p>
            <a:pPr marL="0" indent="0">
              <a:buNone/>
            </a:pPr>
            <a:r>
              <a:rPr lang="en-US" sz="1600" dirty="0">
                <a:solidFill>
                  <a:srgbClr val="242424"/>
                </a:solidFill>
                <a:latin typeface="Segoe UI" pitchFamily="34" charset="0"/>
                <a:ea typeface="Segoe UI" pitchFamily="34" charset="-122"/>
                <a:cs typeface="Segoe UI" pitchFamily="34" charset="-120"/>
              </a:rPr>
              <a:t>“Do you sell kayaks?”</a:t>
            </a:r>
            <a:endParaRPr lang="en-US" sz="1600" dirty="0"/>
          </a:p>
        </p:txBody>
      </p:sp>
      <p:sp>
        <p:nvSpPr>
          <p:cNvPr id="15" name="Shape 12"/>
          <p:cNvSpPr/>
          <p:nvPr/>
        </p:nvSpPr>
        <p:spPr>
          <a:xfrm>
            <a:off x="6446520" y="4279392"/>
            <a:ext cx="5193792" cy="41148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6" name="Shape 13"/>
          <p:cNvSpPr/>
          <p:nvPr/>
        </p:nvSpPr>
        <p:spPr>
          <a:xfrm>
            <a:off x="6446520" y="4279392"/>
            <a:ext cx="82296" cy="411480"/>
          </a:xfrm>
          <a:prstGeom prst="rect">
            <a:avLst/>
          </a:prstGeom>
          <a:solidFill>
            <a:srgbClr val="B11F4B"/>
          </a:solidFill>
          <a:ln w="12700">
            <a:solidFill>
              <a:srgbClr val="B11F4B"/>
            </a:solidFill>
            <a:prstDash val="solid"/>
          </a:ln>
        </p:spPr>
        <p:txBody>
          <a:bodyPr/>
          <a:lstStyle/>
          <a:p>
            <a:endParaRPr lang="en-ZA"/>
          </a:p>
        </p:txBody>
      </p:sp>
      <p:sp>
        <p:nvSpPr>
          <p:cNvPr id="17" name="Text 14"/>
          <p:cNvSpPr/>
          <p:nvPr/>
        </p:nvSpPr>
        <p:spPr>
          <a:xfrm>
            <a:off x="6766560" y="4279392"/>
            <a:ext cx="4645152" cy="411480"/>
          </a:xfrm>
          <a:prstGeom prst="rect">
            <a:avLst/>
          </a:prstGeom>
          <a:noFill/>
          <a:ln/>
        </p:spPr>
        <p:txBody>
          <a:bodyPr wrap="square" lIns="0" tIns="0" rIns="0" bIns="0" rtlCol="0" anchor="ctr"/>
          <a:lstStyle/>
          <a:p>
            <a:pPr marL="0" indent="0">
              <a:buNone/>
            </a:pPr>
            <a:r>
              <a:rPr lang="en-US" sz="1600" dirty="0">
                <a:solidFill>
                  <a:srgbClr val="242424"/>
                </a:solidFill>
                <a:latin typeface="Segoe UI" pitchFamily="34" charset="0"/>
                <a:ea typeface="Segoe UI" pitchFamily="34" charset="-122"/>
                <a:cs typeface="Segoe UI" pitchFamily="34" charset="-120"/>
              </a:rPr>
              <a:t>“What's the cheapest thing in stock?”</a:t>
            </a:r>
            <a:endParaRPr lang="en-US" sz="1600" dirty="0"/>
          </a:p>
        </p:txBody>
      </p:sp>
      <p:sp>
        <p:nvSpPr>
          <p:cNvPr id="18" name="Shape 15"/>
          <p:cNvSpPr/>
          <p:nvPr/>
        </p:nvSpPr>
        <p:spPr>
          <a:xfrm>
            <a:off x="6446520" y="4919472"/>
            <a:ext cx="5193792" cy="41148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9" name="Shape 16"/>
          <p:cNvSpPr/>
          <p:nvPr/>
        </p:nvSpPr>
        <p:spPr>
          <a:xfrm>
            <a:off x="6446520" y="4919472"/>
            <a:ext cx="82296" cy="411480"/>
          </a:xfrm>
          <a:prstGeom prst="rect">
            <a:avLst/>
          </a:prstGeom>
          <a:solidFill>
            <a:srgbClr val="B11F4B"/>
          </a:solidFill>
          <a:ln w="12700">
            <a:solidFill>
              <a:srgbClr val="B11F4B"/>
            </a:solidFill>
            <a:prstDash val="solid"/>
          </a:ln>
        </p:spPr>
        <p:txBody>
          <a:bodyPr/>
          <a:lstStyle/>
          <a:p>
            <a:endParaRPr lang="en-ZA"/>
          </a:p>
        </p:txBody>
      </p:sp>
      <p:sp>
        <p:nvSpPr>
          <p:cNvPr id="20" name="Text 17"/>
          <p:cNvSpPr/>
          <p:nvPr/>
        </p:nvSpPr>
        <p:spPr>
          <a:xfrm>
            <a:off x="6766560" y="4919472"/>
            <a:ext cx="4645152" cy="411480"/>
          </a:xfrm>
          <a:prstGeom prst="rect">
            <a:avLst/>
          </a:prstGeom>
          <a:noFill/>
          <a:ln/>
        </p:spPr>
        <p:txBody>
          <a:bodyPr wrap="square" lIns="0" tIns="0" rIns="0" bIns="0" rtlCol="0" anchor="ctr"/>
          <a:lstStyle/>
          <a:p>
            <a:pPr marL="0" indent="0">
              <a:buNone/>
            </a:pPr>
            <a:r>
              <a:rPr lang="en-US" sz="1600" dirty="0">
                <a:solidFill>
                  <a:srgbClr val="242424"/>
                </a:solidFill>
                <a:latin typeface="Segoe UI" pitchFamily="34" charset="0"/>
                <a:ea typeface="Segoe UI" pitchFamily="34" charset="-122"/>
                <a:cs typeface="Segoe UI" pitchFamily="34" charset="-120"/>
              </a:rPr>
              <a:t>“Write me a poem about the weather.”</a:t>
            </a:r>
            <a:endParaRPr lang="en-US" sz="1600" dirty="0"/>
          </a:p>
        </p:txBody>
      </p:sp>
      <p:sp>
        <p:nvSpPr>
          <p:cNvPr id="21" name="Text 18"/>
          <p:cNvSpPr/>
          <p:nvPr/>
        </p:nvSpPr>
        <p:spPr>
          <a:xfrm>
            <a:off x="6446520" y="5532120"/>
            <a:ext cx="5193792" cy="457200"/>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The whole room shares one model. If it can't answer, wait a few seconds and try again.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107C10"/>
                </a:solidFill>
                <a:latin typeface="Segoe UI Semibold" pitchFamily="34" charset="0"/>
                <a:ea typeface="Segoe UI Semibold" pitchFamily="34" charset="-122"/>
                <a:cs typeface="Segoe UI Semibold" pitchFamily="34" charset="-120"/>
              </a:rPr>
              <a:t xml:space="preserve">Step 4   </a:t>
            </a:r>
            <a:r>
              <a:rPr lang="en-US" sz="3200" dirty="0">
                <a:solidFill>
                  <a:srgbClr val="242424"/>
                </a:solidFill>
                <a:latin typeface="Segoe UI Semibold" pitchFamily="34" charset="0"/>
                <a:ea typeface="Segoe UI Semibold" pitchFamily="34" charset="-122"/>
                <a:cs typeface="Segoe UI Semibold" pitchFamily="34" charset="-120"/>
              </a:rPr>
              <a:t>How traces get to Application Insights</a:t>
            </a:r>
            <a:endParaRPr lang="en-US" sz="3200" dirty="0"/>
          </a:p>
        </p:txBody>
      </p:sp>
      <p:pic>
        <p:nvPicPr>
          <p:cNvPr id="3" name="Image 0" descr="The app sends traces to the Container Apps environment, which forwards them to Application Insights, where you can query tokens and cost or open one question as a timeline"/>
          <p:cNvPicPr>
            <a:picLocks noChangeAspect="1"/>
          </p:cNvPicPr>
          <p:nvPr/>
        </p:nvPicPr>
        <p:blipFill>
          <a:blip r:embed="rId3"/>
          <a:stretch>
            <a:fillRect/>
          </a:stretch>
        </p:blipFill>
        <p:spPr>
          <a:xfrm>
            <a:off x="365760" y="1401693"/>
            <a:ext cx="11457432" cy="3505974"/>
          </a:xfrm>
          <a:prstGeom prst="rect">
            <a:avLst/>
          </a:prstGeom>
        </p:spPr>
      </p:pic>
      <p:sp>
        <p:nvSpPr>
          <p:cNvPr id="4" name="Shape 1"/>
          <p:cNvSpPr/>
          <p:nvPr/>
        </p:nvSpPr>
        <p:spPr>
          <a:xfrm>
            <a:off x="548640" y="5440680"/>
            <a:ext cx="11091672" cy="96012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5" name="Shape 2"/>
          <p:cNvSpPr/>
          <p:nvPr/>
        </p:nvSpPr>
        <p:spPr>
          <a:xfrm>
            <a:off x="548640" y="5440680"/>
            <a:ext cx="82296" cy="960120"/>
          </a:xfrm>
          <a:prstGeom prst="rect">
            <a:avLst/>
          </a:prstGeom>
          <a:solidFill>
            <a:srgbClr val="107C10"/>
          </a:solidFill>
          <a:ln w="12700">
            <a:solidFill>
              <a:srgbClr val="107C10"/>
            </a:solidFill>
            <a:prstDash val="solid"/>
          </a:ln>
        </p:spPr>
        <p:txBody>
          <a:bodyPr/>
          <a:lstStyle/>
          <a:p>
            <a:endParaRPr lang="en-ZA"/>
          </a:p>
        </p:txBody>
      </p:sp>
      <p:sp>
        <p:nvSpPr>
          <p:cNvPr id="6" name="Text 3"/>
          <p:cNvSpPr/>
          <p:nvPr/>
        </p:nvSpPr>
        <p:spPr>
          <a:xfrm>
            <a:off x="868680" y="5568696"/>
            <a:ext cx="3566160" cy="274320"/>
          </a:xfrm>
          <a:prstGeom prst="rect">
            <a:avLst/>
          </a:prstGeom>
          <a:noFill/>
          <a:ln/>
        </p:spPr>
        <p:txBody>
          <a:bodyPr wrap="square" lIns="0" tIns="0" rIns="0" bIns="0" rtlCol="0" anchor="ctr"/>
          <a:lstStyle/>
          <a:p>
            <a:pPr marL="0" indent="0">
              <a:buNone/>
            </a:pPr>
            <a:r>
              <a:rPr lang="en-US" sz="1300" kern="0" spc="300" dirty="0">
                <a:solidFill>
                  <a:srgbClr val="107C10"/>
                </a:solidFill>
                <a:latin typeface="Segoe UI Semibold" pitchFamily="34" charset="0"/>
                <a:ea typeface="Segoe UI Semibold" pitchFamily="34" charset="-122"/>
                <a:cs typeface="Segoe UI Semibold" pitchFamily="34" charset="-120"/>
              </a:rPr>
              <a:t>READ</a:t>
            </a:r>
            <a:endParaRPr lang="en-US" sz="1300" dirty="0"/>
          </a:p>
        </p:txBody>
      </p:sp>
      <p:sp>
        <p:nvSpPr>
          <p:cNvPr id="7" name="Text 4"/>
          <p:cNvSpPr/>
          <p:nvPr/>
        </p:nvSpPr>
        <p:spPr>
          <a:xfrm>
            <a:off x="868680" y="5843016"/>
            <a:ext cx="3566160" cy="457200"/>
          </a:xfrm>
          <a:prstGeom prst="rect">
            <a:avLst/>
          </a:prstGeom>
          <a:noFill/>
          <a:ln/>
        </p:spPr>
        <p:txBody>
          <a:bodyPr wrap="square" lIns="0" tIns="0" rIns="0" bIns="0" rtlCol="0" anchor="t"/>
          <a:lstStyle/>
          <a:p>
            <a:pPr marL="0" indent="0">
              <a:buNone/>
            </a:pPr>
            <a:r>
              <a:rPr lang="en-US" sz="1300" dirty="0">
                <a:solidFill>
                  <a:srgbClr val="242424"/>
                </a:solidFill>
                <a:latin typeface="Consolas" pitchFamily="34" charset="0"/>
                <a:ea typeface="Consolas" pitchFamily="34" charset="-122"/>
                <a:cs typeface="Consolas" pitchFamily="34" charset="-120"/>
              </a:rPr>
              <a:t>pom.xml   application.properties   infra/app.bicep</a:t>
            </a:r>
            <a:endParaRPr lang="en-US" sz="1300" dirty="0"/>
          </a:p>
        </p:txBody>
      </p:sp>
      <p:sp>
        <p:nvSpPr>
          <p:cNvPr id="8" name="Text 5"/>
          <p:cNvSpPr/>
          <p:nvPr/>
        </p:nvSpPr>
        <p:spPr>
          <a:xfrm>
            <a:off x="4709160" y="5568696"/>
            <a:ext cx="6675120" cy="274320"/>
          </a:xfrm>
          <a:prstGeom prst="rect">
            <a:avLst/>
          </a:prstGeom>
          <a:noFill/>
          <a:ln/>
        </p:spPr>
        <p:txBody>
          <a:bodyPr wrap="square" lIns="0" tIns="0" rIns="0" bIns="0" rtlCol="0" anchor="ctr"/>
          <a:lstStyle/>
          <a:p>
            <a:pPr marL="0" indent="0">
              <a:buNone/>
            </a:pPr>
            <a:r>
              <a:rPr lang="en-US" sz="1300" kern="0" spc="300" dirty="0">
                <a:solidFill>
                  <a:srgbClr val="107C10"/>
                </a:solidFill>
                <a:latin typeface="Segoe UI Semibold" pitchFamily="34" charset="0"/>
                <a:ea typeface="Segoe UI Semibold" pitchFamily="34" charset="-122"/>
                <a:cs typeface="Segoe UI Semibold" pitchFamily="34" charset="-120"/>
              </a:rPr>
              <a:t>FIND</a:t>
            </a:r>
            <a:endParaRPr lang="en-US" sz="1300" dirty="0"/>
          </a:p>
        </p:txBody>
      </p:sp>
      <p:sp>
        <p:nvSpPr>
          <p:cNvPr id="9" name="Text 6"/>
          <p:cNvSpPr/>
          <p:nvPr/>
        </p:nvSpPr>
        <p:spPr>
          <a:xfrm>
            <a:off x="4709160" y="5843016"/>
            <a:ext cx="6720840" cy="457200"/>
          </a:xfrm>
          <a:prstGeom prst="rect">
            <a:avLst/>
          </a:prstGeom>
          <a:noFill/>
          <a:ln/>
        </p:spPr>
        <p:txBody>
          <a:bodyPr wrap="square" lIns="0" tIns="0" rIns="0" bIns="0" rtlCol="0" anchor="t"/>
          <a:lstStyle/>
          <a:p>
            <a:pPr marL="0" indent="0">
              <a:buNone/>
            </a:pPr>
            <a:r>
              <a:rPr lang="en-US" sz="1400" dirty="0">
                <a:solidFill>
                  <a:srgbClr val="242424"/>
                </a:solidFill>
                <a:latin typeface="Segoe UI" pitchFamily="34" charset="0"/>
                <a:ea typeface="Segoe UI" pitchFamily="34" charset="-122"/>
                <a:cs typeface="Segoe UI" pitchFamily="34" charset="-120"/>
              </a:rPr>
              <a:t>How many model calls does one product question make, and why?</a:t>
            </a:r>
            <a:endParaRPr lang="en-US" sz="1400" dirty="0"/>
          </a:p>
          <a:p>
            <a:pPr marL="0" indent="0">
              <a:buNone/>
            </a:pPr>
            <a:r>
              <a:rPr lang="en-US" sz="1400" dirty="0">
                <a:solidFill>
                  <a:srgbClr val="242424"/>
                </a:solidFill>
                <a:latin typeface="Segoe UI" pitchFamily="34" charset="0"/>
                <a:ea typeface="Segoe UI" pitchFamily="34" charset="-122"/>
                <a:cs typeface="Segoe UI" pitchFamily="34" charset="-120"/>
              </a:rPr>
              <a:t>About how much does one question cost?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107C10"/>
                </a:solidFill>
                <a:latin typeface="Segoe UI Semibold" pitchFamily="34" charset="0"/>
                <a:ea typeface="Segoe UI Semibold" pitchFamily="34" charset="-122"/>
                <a:cs typeface="Segoe UI Semibold" pitchFamily="34" charset="-120"/>
              </a:rPr>
              <a:t xml:space="preserve">Step 4   </a:t>
            </a:r>
            <a:r>
              <a:rPr lang="en-US" sz="3200" dirty="0">
                <a:solidFill>
                  <a:srgbClr val="242424"/>
                </a:solidFill>
                <a:latin typeface="Segoe UI Semibold" pitchFamily="34" charset="0"/>
                <a:ea typeface="Segoe UI Semibold" pitchFamily="34" charset="-122"/>
                <a:cs typeface="Segoe UI Semibold" pitchFamily="34" charset="-120"/>
              </a:rPr>
              <a:t>One question, as a trace</a:t>
            </a:r>
            <a:endParaRPr lang="en-US" sz="32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marL="0" indent="0">
              <a:buNone/>
            </a:pPr>
            <a:r>
              <a:rPr lang="en-US" sz="1600" dirty="0">
                <a:solidFill>
                  <a:srgbClr val="5C5C5C"/>
                </a:solidFill>
                <a:latin typeface="Segoe UI" pitchFamily="34" charset="0"/>
                <a:ea typeface="Segoe UI" pitchFamily="34" charset="-122"/>
                <a:cs typeface="Segoe UI" pitchFamily="34" charset="-120"/>
              </a:rPr>
              <a:t>“Is the Summit Waterproof Jacket in stock?” Real data from step 4.</a:t>
            </a:r>
            <a:endParaRPr lang="en-US" sz="1600" dirty="0"/>
          </a:p>
        </p:txBody>
      </p:sp>
      <p:pic>
        <p:nvPicPr>
          <p:cNvPr id="4" name="Image 0" descr="A 3.5-second request with a 1.5-second model call, a 1-millisecond tool call and a 1.9-second model call, using 549 input and 52 output tokens for $0.000081"/>
          <p:cNvPicPr>
            <a:picLocks noChangeAspect="1"/>
          </p:cNvPicPr>
          <p:nvPr/>
        </p:nvPicPr>
        <p:blipFill>
          <a:blip r:embed="rId3"/>
          <a:stretch>
            <a:fillRect/>
          </a:stretch>
        </p:blipFill>
        <p:spPr>
          <a:xfrm>
            <a:off x="195682" y="1464535"/>
            <a:ext cx="11731752" cy="3883210"/>
          </a:xfrm>
          <a:prstGeom prst="rect">
            <a:avLst/>
          </a:prstGeom>
        </p:spPr>
      </p:pic>
      <p:sp>
        <p:nvSpPr>
          <p:cNvPr id="5" name="Text 2"/>
          <p:cNvSpPr/>
          <p:nvPr/>
        </p:nvSpPr>
        <p:spPr>
          <a:xfrm>
            <a:off x="548640" y="5577840"/>
            <a:ext cx="11064240" cy="457200"/>
          </a:xfrm>
          <a:prstGeom prst="rect">
            <a:avLst/>
          </a:prstGeom>
          <a:noFill/>
          <a:ln/>
        </p:spPr>
        <p:txBody>
          <a:bodyPr wrap="square" lIns="0" tIns="0" rIns="0" bIns="0" rtlCol="0" anchor="ctr"/>
          <a:lstStyle/>
          <a:p>
            <a:pPr marL="0" indent="0">
              <a:buNone/>
            </a:pPr>
            <a:r>
              <a:rPr lang="en-US" sz="1800" dirty="0">
                <a:solidFill>
                  <a:srgbClr val="242424"/>
                </a:solidFill>
                <a:latin typeface="Segoe UI" pitchFamily="34" charset="0"/>
                <a:ea typeface="Segoe UI" pitchFamily="34" charset="-122"/>
                <a:cs typeface="Segoe UI" pitchFamily="34" charset="-120"/>
              </a:rPr>
              <a:t>Your Java method takes 1 ms. The model is where the time, and the cost, goes.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242424"/>
                </a:solidFill>
                <a:latin typeface="Segoe UI Semibold" pitchFamily="34" charset="0"/>
                <a:ea typeface="Segoe UI Semibold" pitchFamily="34" charset="-122"/>
                <a:cs typeface="Segoe UI Semibold" pitchFamily="34" charset="-120"/>
              </a:rPr>
              <a:t>Cost-aware by design</a:t>
            </a:r>
            <a:endParaRPr lang="en-US" sz="3200" dirty="0"/>
          </a:p>
        </p:txBody>
      </p:sp>
      <p:sp>
        <p:nvSpPr>
          <p:cNvPr id="3" name="Shape 1"/>
          <p:cNvSpPr/>
          <p:nvPr/>
        </p:nvSpPr>
        <p:spPr>
          <a:xfrm>
            <a:off x="548640" y="1325880"/>
            <a:ext cx="5394960" cy="205740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4" name="Shape 2"/>
          <p:cNvSpPr/>
          <p:nvPr/>
        </p:nvSpPr>
        <p:spPr>
          <a:xfrm>
            <a:off x="548640" y="1325880"/>
            <a:ext cx="82296" cy="2057400"/>
          </a:xfrm>
          <a:prstGeom prst="rect">
            <a:avLst/>
          </a:prstGeom>
          <a:solidFill>
            <a:srgbClr val="B11F4B"/>
          </a:solidFill>
          <a:ln w="12700">
            <a:solidFill>
              <a:srgbClr val="B11F4B"/>
            </a:solidFill>
            <a:prstDash val="solid"/>
          </a:ln>
        </p:spPr>
        <p:txBody>
          <a:bodyPr/>
          <a:lstStyle/>
          <a:p>
            <a:endParaRPr lang="en-ZA"/>
          </a:p>
        </p:txBody>
      </p:sp>
      <p:sp>
        <p:nvSpPr>
          <p:cNvPr id="5" name="Text 3"/>
          <p:cNvSpPr/>
          <p:nvPr/>
        </p:nvSpPr>
        <p:spPr>
          <a:xfrm>
            <a:off x="914400" y="1490472"/>
            <a:ext cx="4846320" cy="868680"/>
          </a:xfrm>
          <a:prstGeom prst="rect">
            <a:avLst/>
          </a:prstGeom>
          <a:noFill/>
          <a:ln/>
        </p:spPr>
        <p:txBody>
          <a:bodyPr wrap="square" lIns="0" tIns="0" rIns="0" bIns="0" rtlCol="0" anchor="ctr"/>
          <a:lstStyle/>
          <a:p>
            <a:pPr marL="0" indent="0">
              <a:buNone/>
            </a:pPr>
            <a:r>
              <a:rPr lang="en-US" sz="5400" dirty="0">
                <a:solidFill>
                  <a:srgbClr val="B11F4B"/>
                </a:solidFill>
                <a:latin typeface="Segoe UI Semibold" pitchFamily="34" charset="0"/>
                <a:ea typeface="Segoe UI Semibold" pitchFamily="34" charset="-122"/>
                <a:cs typeface="Segoe UI Semibold" pitchFamily="34" charset="-120"/>
              </a:rPr>
              <a:t>$0.00008</a:t>
            </a:r>
            <a:endParaRPr lang="en-US" sz="5400" dirty="0"/>
          </a:p>
        </p:txBody>
      </p:sp>
      <p:sp>
        <p:nvSpPr>
          <p:cNvPr id="6" name="Text 4"/>
          <p:cNvSpPr/>
          <p:nvPr/>
        </p:nvSpPr>
        <p:spPr>
          <a:xfrm>
            <a:off x="914400" y="2377440"/>
            <a:ext cx="4846320" cy="384048"/>
          </a:xfrm>
          <a:prstGeom prst="rect">
            <a:avLst/>
          </a:prstGeom>
          <a:noFill/>
          <a:ln/>
        </p:spPr>
        <p:txBody>
          <a:bodyPr wrap="square" lIns="0" tIns="0" rIns="0" bIns="0" rtlCol="0" anchor="ctr"/>
          <a:lstStyle/>
          <a:p>
            <a:pPr marL="0" indent="0">
              <a:buNone/>
            </a:pPr>
            <a:r>
              <a:rPr lang="en-US" sz="1800" dirty="0">
                <a:solidFill>
                  <a:srgbClr val="242424"/>
                </a:solidFill>
                <a:latin typeface="Segoe UI Semibold" pitchFamily="34" charset="0"/>
                <a:ea typeface="Segoe UI Semibold" pitchFamily="34" charset="-122"/>
                <a:cs typeface="Segoe UI Semibold" pitchFamily="34" charset="-120"/>
              </a:rPr>
              <a:t>per question</a:t>
            </a:r>
            <a:endParaRPr lang="en-US" sz="1800" dirty="0"/>
          </a:p>
        </p:txBody>
      </p:sp>
      <p:sp>
        <p:nvSpPr>
          <p:cNvPr id="7" name="Text 5"/>
          <p:cNvSpPr/>
          <p:nvPr/>
        </p:nvSpPr>
        <p:spPr>
          <a:xfrm>
            <a:off x="914400" y="2761488"/>
            <a:ext cx="4846320" cy="457200"/>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About 540 tokens in and 50 tokens out, on average</a:t>
            </a:r>
            <a:endParaRPr lang="en-US" sz="1400" dirty="0"/>
          </a:p>
        </p:txBody>
      </p:sp>
      <p:sp>
        <p:nvSpPr>
          <p:cNvPr id="8" name="Shape 6"/>
          <p:cNvSpPr/>
          <p:nvPr/>
        </p:nvSpPr>
        <p:spPr>
          <a:xfrm>
            <a:off x="6245352" y="1325880"/>
            <a:ext cx="5394960" cy="205740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9" name="Shape 7"/>
          <p:cNvSpPr/>
          <p:nvPr/>
        </p:nvSpPr>
        <p:spPr>
          <a:xfrm>
            <a:off x="6245352" y="1325880"/>
            <a:ext cx="82296" cy="2057400"/>
          </a:xfrm>
          <a:prstGeom prst="rect">
            <a:avLst/>
          </a:prstGeom>
          <a:solidFill>
            <a:srgbClr val="B11F4B"/>
          </a:solidFill>
          <a:ln w="12700">
            <a:solidFill>
              <a:srgbClr val="B11F4B"/>
            </a:solidFill>
            <a:prstDash val="solid"/>
          </a:ln>
        </p:spPr>
        <p:txBody>
          <a:bodyPr/>
          <a:lstStyle/>
          <a:p>
            <a:endParaRPr lang="en-ZA"/>
          </a:p>
        </p:txBody>
      </p:sp>
      <p:sp>
        <p:nvSpPr>
          <p:cNvPr id="10" name="Text 8"/>
          <p:cNvSpPr/>
          <p:nvPr/>
        </p:nvSpPr>
        <p:spPr>
          <a:xfrm>
            <a:off x="6611112" y="1490472"/>
            <a:ext cx="4846320" cy="868680"/>
          </a:xfrm>
          <a:prstGeom prst="rect">
            <a:avLst/>
          </a:prstGeom>
          <a:noFill/>
          <a:ln/>
        </p:spPr>
        <p:txBody>
          <a:bodyPr wrap="square" lIns="0" tIns="0" rIns="0" bIns="0" rtlCol="0" anchor="ctr"/>
          <a:lstStyle/>
          <a:p>
            <a:pPr marL="0" indent="0">
              <a:buNone/>
            </a:pPr>
            <a:r>
              <a:rPr lang="en-US" sz="5400" dirty="0">
                <a:solidFill>
                  <a:srgbClr val="B11F4B"/>
                </a:solidFill>
                <a:latin typeface="Segoe UI Semibold" pitchFamily="34" charset="0"/>
                <a:ea typeface="Segoe UI Semibold" pitchFamily="34" charset="-122"/>
                <a:cs typeface="Segoe UI Semibold" pitchFamily="34" charset="-120"/>
              </a:rPr>
              <a:t>$0.08</a:t>
            </a:r>
            <a:endParaRPr lang="en-US" sz="5400" dirty="0"/>
          </a:p>
        </p:txBody>
      </p:sp>
      <p:sp>
        <p:nvSpPr>
          <p:cNvPr id="11" name="Text 9"/>
          <p:cNvSpPr/>
          <p:nvPr/>
        </p:nvSpPr>
        <p:spPr>
          <a:xfrm>
            <a:off x="6611112" y="2377440"/>
            <a:ext cx="4846320" cy="384048"/>
          </a:xfrm>
          <a:prstGeom prst="rect">
            <a:avLst/>
          </a:prstGeom>
          <a:noFill/>
          <a:ln/>
        </p:spPr>
        <p:txBody>
          <a:bodyPr wrap="square" lIns="0" tIns="0" rIns="0" bIns="0" rtlCol="0" anchor="ctr"/>
          <a:lstStyle/>
          <a:p>
            <a:pPr marL="0" indent="0">
              <a:buNone/>
            </a:pPr>
            <a:r>
              <a:rPr lang="en-US" sz="1800" dirty="0">
                <a:solidFill>
                  <a:srgbClr val="242424"/>
                </a:solidFill>
                <a:latin typeface="Segoe UI Semibold" pitchFamily="34" charset="0"/>
                <a:ea typeface="Segoe UI Semibold" pitchFamily="34" charset="-122"/>
                <a:cs typeface="Segoe UI Semibold" pitchFamily="34" charset="-120"/>
              </a:rPr>
              <a:t>per 1,000 questions</a:t>
            </a:r>
            <a:endParaRPr lang="en-US" sz="1800" dirty="0"/>
          </a:p>
        </p:txBody>
      </p:sp>
      <p:sp>
        <p:nvSpPr>
          <p:cNvPr id="12" name="Text 10"/>
          <p:cNvSpPr/>
          <p:nvPr/>
        </p:nvSpPr>
        <p:spPr>
          <a:xfrm>
            <a:off x="6611112" y="2761488"/>
            <a:ext cx="4846320" cy="457200"/>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At $0.10 per 1M tokens in and $0.50 per 1M tokens out</a:t>
            </a:r>
            <a:endParaRPr lang="en-US" sz="1400" dirty="0"/>
          </a:p>
        </p:txBody>
      </p:sp>
      <p:sp>
        <p:nvSpPr>
          <p:cNvPr id="13" name="Shape 11"/>
          <p:cNvSpPr/>
          <p:nvPr/>
        </p:nvSpPr>
        <p:spPr>
          <a:xfrm>
            <a:off x="548640" y="3657600"/>
            <a:ext cx="5394960" cy="205740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4" name="Shape 12"/>
          <p:cNvSpPr/>
          <p:nvPr/>
        </p:nvSpPr>
        <p:spPr>
          <a:xfrm>
            <a:off x="548640" y="3657600"/>
            <a:ext cx="82296" cy="2057400"/>
          </a:xfrm>
          <a:prstGeom prst="rect">
            <a:avLst/>
          </a:prstGeom>
          <a:solidFill>
            <a:srgbClr val="B11F4B"/>
          </a:solidFill>
          <a:ln w="12700">
            <a:solidFill>
              <a:srgbClr val="B11F4B"/>
            </a:solidFill>
            <a:prstDash val="solid"/>
          </a:ln>
        </p:spPr>
        <p:txBody>
          <a:bodyPr/>
          <a:lstStyle/>
          <a:p>
            <a:endParaRPr lang="en-ZA"/>
          </a:p>
        </p:txBody>
      </p:sp>
      <p:sp>
        <p:nvSpPr>
          <p:cNvPr id="15" name="Text 13"/>
          <p:cNvSpPr/>
          <p:nvPr/>
        </p:nvSpPr>
        <p:spPr>
          <a:xfrm>
            <a:off x="914400" y="3822192"/>
            <a:ext cx="4846320" cy="868680"/>
          </a:xfrm>
          <a:prstGeom prst="rect">
            <a:avLst/>
          </a:prstGeom>
          <a:noFill/>
          <a:ln/>
        </p:spPr>
        <p:txBody>
          <a:bodyPr wrap="square" lIns="0" tIns="0" rIns="0" bIns="0" rtlCol="0" anchor="ctr"/>
          <a:lstStyle/>
          <a:p>
            <a:pPr marL="0" indent="0">
              <a:buNone/>
            </a:pPr>
            <a:r>
              <a:rPr lang="en-US" sz="5400" dirty="0">
                <a:solidFill>
                  <a:srgbClr val="B11F4B"/>
                </a:solidFill>
                <a:latin typeface="Segoe UI Semibold" pitchFamily="34" charset="0"/>
                <a:ea typeface="Segoe UI Semibold" pitchFamily="34" charset="-122"/>
                <a:cs typeface="Segoe UI Semibold" pitchFamily="34" charset="-120"/>
              </a:rPr>
              <a:t>$0</a:t>
            </a:r>
            <a:endParaRPr lang="en-US" sz="5400" dirty="0"/>
          </a:p>
        </p:txBody>
      </p:sp>
      <p:sp>
        <p:nvSpPr>
          <p:cNvPr id="16" name="Text 14"/>
          <p:cNvSpPr/>
          <p:nvPr/>
        </p:nvSpPr>
        <p:spPr>
          <a:xfrm>
            <a:off x="914400" y="4709160"/>
            <a:ext cx="4846320" cy="384048"/>
          </a:xfrm>
          <a:prstGeom prst="rect">
            <a:avLst/>
          </a:prstGeom>
          <a:noFill/>
          <a:ln/>
        </p:spPr>
        <p:txBody>
          <a:bodyPr wrap="square" lIns="0" tIns="0" rIns="0" bIns="0" rtlCol="0" anchor="ctr"/>
          <a:lstStyle/>
          <a:p>
            <a:pPr marL="0" indent="0">
              <a:buNone/>
            </a:pPr>
            <a:r>
              <a:rPr lang="en-US" sz="1800" dirty="0">
                <a:solidFill>
                  <a:srgbClr val="242424"/>
                </a:solidFill>
                <a:latin typeface="Segoe UI Semibold" pitchFamily="34" charset="0"/>
                <a:ea typeface="Segoe UI Semibold" pitchFamily="34" charset="-122"/>
                <a:cs typeface="Segoe UI Semibold" pitchFamily="34" charset="-120"/>
              </a:rPr>
              <a:t>while nobody uses it</a:t>
            </a:r>
            <a:endParaRPr lang="en-US" sz="1800" dirty="0"/>
          </a:p>
        </p:txBody>
      </p:sp>
      <p:sp>
        <p:nvSpPr>
          <p:cNvPr id="17" name="Text 15"/>
          <p:cNvSpPr/>
          <p:nvPr/>
        </p:nvSpPr>
        <p:spPr>
          <a:xfrm>
            <a:off x="914400" y="5093208"/>
            <a:ext cx="4846320" cy="457200"/>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The apps scale to zero when they're idle</a:t>
            </a:r>
            <a:endParaRPr lang="en-US" sz="1400" dirty="0"/>
          </a:p>
        </p:txBody>
      </p:sp>
      <p:sp>
        <p:nvSpPr>
          <p:cNvPr id="18" name="Shape 16"/>
          <p:cNvSpPr/>
          <p:nvPr/>
        </p:nvSpPr>
        <p:spPr>
          <a:xfrm>
            <a:off x="6245352" y="3657600"/>
            <a:ext cx="5394960" cy="205740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9" name="Shape 17"/>
          <p:cNvSpPr/>
          <p:nvPr/>
        </p:nvSpPr>
        <p:spPr>
          <a:xfrm>
            <a:off x="6245352" y="3657600"/>
            <a:ext cx="82296" cy="2057400"/>
          </a:xfrm>
          <a:prstGeom prst="rect">
            <a:avLst/>
          </a:prstGeom>
          <a:solidFill>
            <a:srgbClr val="B11F4B"/>
          </a:solidFill>
          <a:ln w="12700">
            <a:solidFill>
              <a:srgbClr val="B11F4B"/>
            </a:solidFill>
            <a:prstDash val="solid"/>
          </a:ln>
        </p:spPr>
        <p:txBody>
          <a:bodyPr/>
          <a:lstStyle/>
          <a:p>
            <a:endParaRPr lang="en-ZA"/>
          </a:p>
        </p:txBody>
      </p:sp>
      <p:sp>
        <p:nvSpPr>
          <p:cNvPr id="20" name="Text 18"/>
          <p:cNvSpPr/>
          <p:nvPr/>
        </p:nvSpPr>
        <p:spPr>
          <a:xfrm>
            <a:off x="6611112" y="3822192"/>
            <a:ext cx="4846320" cy="868680"/>
          </a:xfrm>
          <a:prstGeom prst="rect">
            <a:avLst/>
          </a:prstGeom>
          <a:noFill/>
          <a:ln/>
        </p:spPr>
        <p:txBody>
          <a:bodyPr wrap="square" lIns="0" tIns="0" rIns="0" bIns="0" rtlCol="0" anchor="ctr"/>
          <a:lstStyle/>
          <a:p>
            <a:pPr marL="0" indent="0">
              <a:buNone/>
            </a:pPr>
            <a:r>
              <a:rPr lang="en-US" sz="5400" dirty="0">
                <a:solidFill>
                  <a:srgbClr val="B11F4B"/>
                </a:solidFill>
                <a:latin typeface="Segoe UI Semibold" pitchFamily="34" charset="0"/>
                <a:ea typeface="Segoe UI Semibold" pitchFamily="34" charset="-122"/>
                <a:cs typeface="Segoe UI Semibold" pitchFamily="34" charset="-120"/>
              </a:rPr>
              <a:t>$5</a:t>
            </a:r>
            <a:endParaRPr lang="en-US" sz="5400" dirty="0"/>
          </a:p>
        </p:txBody>
      </p:sp>
      <p:sp>
        <p:nvSpPr>
          <p:cNvPr id="21" name="Text 19"/>
          <p:cNvSpPr/>
          <p:nvPr/>
        </p:nvSpPr>
        <p:spPr>
          <a:xfrm>
            <a:off x="6611112" y="4709160"/>
            <a:ext cx="4846320" cy="384048"/>
          </a:xfrm>
          <a:prstGeom prst="rect">
            <a:avLst/>
          </a:prstGeom>
          <a:noFill/>
          <a:ln/>
        </p:spPr>
        <p:txBody>
          <a:bodyPr wrap="square" lIns="0" tIns="0" rIns="0" bIns="0" rtlCol="0" anchor="ctr"/>
          <a:lstStyle/>
          <a:p>
            <a:pPr marL="0" indent="0">
              <a:buNone/>
            </a:pPr>
            <a:r>
              <a:rPr lang="en-US" sz="1800" dirty="0">
                <a:solidFill>
                  <a:srgbClr val="242424"/>
                </a:solidFill>
                <a:latin typeface="Segoe UI Semibold" pitchFamily="34" charset="0"/>
                <a:ea typeface="Segoe UI Semibold" pitchFamily="34" charset="-122"/>
                <a:cs typeface="Segoe UI Semibold" pitchFamily="34" charset="-120"/>
              </a:rPr>
              <a:t>a month per container registry</a:t>
            </a:r>
            <a:endParaRPr lang="en-US" sz="1800" dirty="0"/>
          </a:p>
        </p:txBody>
      </p:sp>
      <p:sp>
        <p:nvSpPr>
          <p:cNvPr id="22" name="Text 20"/>
          <p:cNvSpPr/>
          <p:nvPr/>
        </p:nvSpPr>
        <p:spPr>
          <a:xfrm>
            <a:off x="6611112" y="5093208"/>
            <a:ext cx="4846320" cy="457200"/>
          </a:xfrm>
          <a:prstGeom prst="rect">
            <a:avLst/>
          </a:prstGeom>
          <a:noFill/>
          <a:ln/>
        </p:spPr>
        <p:txBody>
          <a:bodyPr wrap="square" lIns="0" tIns="0" rIns="0" bIns="0" rtlCol="0" anchor="t"/>
          <a:lstStyle/>
          <a:p>
            <a:pPr marL="0" indent="0">
              <a:buNone/>
            </a:pPr>
            <a:r>
              <a:rPr lang="en-US" sz="1400" dirty="0">
                <a:solidFill>
                  <a:srgbClr val="5C5C5C"/>
                </a:solidFill>
                <a:latin typeface="Segoe UI" pitchFamily="34" charset="0"/>
                <a:ea typeface="Segoe UI" pitchFamily="34" charset="-122"/>
                <a:cs typeface="Segoe UI" pitchFamily="34" charset="-120"/>
              </a:rPr>
              <a:t>The main fixed cost for each step you deploy</a:t>
            </a:r>
            <a:endParaRPr lang="en-US" sz="1400" dirty="0"/>
          </a:p>
        </p:txBody>
      </p:sp>
      <p:sp>
        <p:nvSpPr>
          <p:cNvPr id="23" name="Text 21"/>
          <p:cNvSpPr/>
          <p:nvPr/>
        </p:nvSpPr>
        <p:spPr>
          <a:xfrm>
            <a:off x="548640" y="5943600"/>
            <a:ext cx="11091672" cy="457200"/>
          </a:xfrm>
          <a:prstGeom prst="rect">
            <a:avLst/>
          </a:prstGeom>
          <a:noFill/>
          <a:ln/>
        </p:spPr>
        <p:txBody>
          <a:bodyPr wrap="square" lIns="0" tIns="0" rIns="0" bIns="0" rtlCol="0" anchor="t"/>
          <a:lstStyle/>
          <a:p>
            <a:pPr marL="0" indent="0">
              <a:buNone/>
            </a:pPr>
            <a:r>
              <a:rPr lang="en-US" sz="1200" dirty="0">
                <a:solidFill>
                  <a:srgbClr val="5C5C5C"/>
                </a:solidFill>
                <a:latin typeface="Segoe UI" pitchFamily="34" charset="0"/>
                <a:ea typeface="Segoe UI" pitchFamily="34" charset="-122"/>
                <a:cs typeface="Segoe UI" pitchFamily="34" charset="-120"/>
              </a:rPr>
              <a:t>Azure retail prices for Sweden Central, checked on 22 October 2026.</a:t>
            </a:r>
            <a:endParaRPr lang="en-US" sz="1200" dirty="0"/>
          </a:p>
          <a:p>
            <a:pPr marL="0" indent="0">
              <a:buNone/>
            </a:pPr>
            <a:r>
              <a:rPr lang="en-US" sz="1200" dirty="0">
                <a:solidFill>
                  <a:srgbClr val="5C5C5C"/>
                </a:solidFill>
                <a:latin typeface="Segoe UI" pitchFamily="34" charset="0"/>
                <a:ea typeface="Segoe UI" pitchFamily="34" charset="-122"/>
                <a:cs typeface="Segoe UI" pitchFamily="34" charset="-120"/>
              </a:rPr>
              <a:t>The model accepts at most 30 requests and 30,000 tokens a minute, so it costs at most about $0.90 an hour.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242424"/>
                </a:solidFill>
                <a:latin typeface="Segoe UI Semibold" pitchFamily="34" charset="0"/>
                <a:ea typeface="Segoe UI Semibold" pitchFamily="34" charset="-122"/>
                <a:cs typeface="Segoe UI Semibold" pitchFamily="34" charset="-120"/>
              </a:rPr>
              <a:t>Check your answers</a:t>
            </a:r>
            <a:endParaRPr lang="en-US" sz="3200" dirty="0"/>
          </a:p>
        </p:txBody>
      </p:sp>
      <p:sp>
        <p:nvSpPr>
          <p:cNvPr id="3" name="Shape 1"/>
          <p:cNvSpPr/>
          <p:nvPr/>
        </p:nvSpPr>
        <p:spPr>
          <a:xfrm>
            <a:off x="548640" y="1325880"/>
            <a:ext cx="11091672" cy="10058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4" name="Shape 2"/>
          <p:cNvSpPr/>
          <p:nvPr/>
        </p:nvSpPr>
        <p:spPr>
          <a:xfrm>
            <a:off x="548640" y="1325880"/>
            <a:ext cx="82296" cy="1005840"/>
          </a:xfrm>
          <a:prstGeom prst="rect">
            <a:avLst/>
          </a:prstGeom>
          <a:solidFill>
            <a:srgbClr val="B11F4B"/>
          </a:solidFill>
          <a:ln w="12700">
            <a:solidFill>
              <a:srgbClr val="B11F4B"/>
            </a:solidFill>
            <a:prstDash val="solid"/>
          </a:ln>
        </p:spPr>
        <p:txBody>
          <a:bodyPr/>
          <a:lstStyle/>
          <a:p>
            <a:endParaRPr lang="en-ZA"/>
          </a:p>
        </p:txBody>
      </p:sp>
      <p:sp>
        <p:nvSpPr>
          <p:cNvPr id="5" name="Text 3"/>
          <p:cNvSpPr/>
          <p:nvPr/>
        </p:nvSpPr>
        <p:spPr>
          <a:xfrm>
            <a:off x="868680" y="1463040"/>
            <a:ext cx="3931920" cy="274320"/>
          </a:xfrm>
          <a:prstGeom prst="rect">
            <a:avLst/>
          </a:prstGeom>
          <a:noFill/>
          <a:ln/>
        </p:spPr>
        <p:txBody>
          <a:bodyPr wrap="square" lIns="0" tIns="0" rIns="0" bIns="0" rtlCol="0" anchor="ctr"/>
          <a:lstStyle/>
          <a:p>
            <a:pPr marL="0" indent="0">
              <a:buNone/>
            </a:pPr>
            <a:r>
              <a:rPr lang="en-US" sz="1300" kern="0" spc="300" dirty="0">
                <a:solidFill>
                  <a:srgbClr val="B11F4B"/>
                </a:solidFill>
                <a:latin typeface="Segoe UI Semibold" pitchFamily="34" charset="0"/>
                <a:ea typeface="Segoe UI Semibold" pitchFamily="34" charset="-122"/>
                <a:cs typeface="Segoe UI Semibold" pitchFamily="34" charset="-120"/>
              </a:rPr>
              <a:t>STEP 1</a:t>
            </a:r>
            <a:endParaRPr lang="en-US" sz="1300" dirty="0"/>
          </a:p>
        </p:txBody>
      </p:sp>
      <p:sp>
        <p:nvSpPr>
          <p:cNvPr id="6" name="Text 4"/>
          <p:cNvSpPr/>
          <p:nvPr/>
        </p:nvSpPr>
        <p:spPr>
          <a:xfrm>
            <a:off x="868680" y="1755648"/>
            <a:ext cx="4023360" cy="502920"/>
          </a:xfrm>
          <a:prstGeom prst="rect">
            <a:avLst/>
          </a:prstGeom>
          <a:noFill/>
          <a:ln/>
        </p:spPr>
        <p:txBody>
          <a:bodyPr wrap="square" lIns="0" tIns="0" rIns="0" bIns="0" rtlCol="0" anchor="t"/>
          <a:lstStyle/>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How many products?</a:t>
            </a:r>
            <a:endParaRPr lang="en-US" sz="1500" dirty="0"/>
          </a:p>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Which one is out of stock?</a:t>
            </a:r>
            <a:endParaRPr lang="en-US" sz="1500" dirty="0"/>
          </a:p>
        </p:txBody>
      </p:sp>
      <p:sp>
        <p:nvSpPr>
          <p:cNvPr id="7" name="Text 5"/>
          <p:cNvSpPr/>
          <p:nvPr/>
        </p:nvSpPr>
        <p:spPr>
          <a:xfrm>
            <a:off x="5120640" y="1755648"/>
            <a:ext cx="6263640" cy="548640"/>
          </a:xfrm>
          <a:prstGeom prst="rect">
            <a:avLst/>
          </a:prstGeom>
          <a:noFill/>
          <a:ln/>
        </p:spPr>
        <p:txBody>
          <a:bodyPr wrap="square" lIns="0" tIns="0" rIns="0" bIns="0" rtlCol="0" anchor="t"/>
          <a:lstStyle/>
          <a:p>
            <a:pPr marL="0" indent="0">
              <a:buNone/>
            </a:pPr>
            <a:r>
              <a:rPr lang="en-US" sz="1500" dirty="0">
                <a:solidFill>
                  <a:srgbClr val="242424"/>
                </a:solidFill>
                <a:latin typeface="Segoe UI" pitchFamily="34" charset="0"/>
                <a:ea typeface="Segoe UI" pitchFamily="34" charset="-122"/>
                <a:cs typeface="Segoe UI" pitchFamily="34" charset="-120"/>
              </a:rPr>
              <a:t>Six. The Summit Waterproof Jacket has 0 in stock.</a:t>
            </a:r>
            <a:endParaRPr lang="en-US" sz="1500" dirty="0"/>
          </a:p>
        </p:txBody>
      </p:sp>
      <p:sp>
        <p:nvSpPr>
          <p:cNvPr id="8" name="Shape 6"/>
          <p:cNvSpPr/>
          <p:nvPr/>
        </p:nvSpPr>
        <p:spPr>
          <a:xfrm>
            <a:off x="548640" y="2606040"/>
            <a:ext cx="11091672" cy="10058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9" name="Shape 7"/>
          <p:cNvSpPr/>
          <p:nvPr/>
        </p:nvSpPr>
        <p:spPr>
          <a:xfrm>
            <a:off x="548640" y="2606040"/>
            <a:ext cx="82296" cy="1005840"/>
          </a:xfrm>
          <a:prstGeom prst="rect">
            <a:avLst/>
          </a:prstGeom>
          <a:solidFill>
            <a:srgbClr val="0078D4"/>
          </a:solidFill>
          <a:ln w="12700">
            <a:solidFill>
              <a:srgbClr val="0078D4"/>
            </a:solidFill>
            <a:prstDash val="solid"/>
          </a:ln>
        </p:spPr>
        <p:txBody>
          <a:bodyPr/>
          <a:lstStyle/>
          <a:p>
            <a:endParaRPr lang="en-ZA"/>
          </a:p>
        </p:txBody>
      </p:sp>
      <p:sp>
        <p:nvSpPr>
          <p:cNvPr id="10" name="Text 8"/>
          <p:cNvSpPr/>
          <p:nvPr/>
        </p:nvSpPr>
        <p:spPr>
          <a:xfrm>
            <a:off x="868680" y="2743200"/>
            <a:ext cx="3931920" cy="274320"/>
          </a:xfrm>
          <a:prstGeom prst="rect">
            <a:avLst/>
          </a:prstGeom>
          <a:noFill/>
          <a:ln/>
        </p:spPr>
        <p:txBody>
          <a:bodyPr wrap="square" lIns="0" tIns="0" rIns="0" bIns="0" rtlCol="0" anchor="ctr"/>
          <a:lstStyle/>
          <a:p>
            <a:pPr marL="0" indent="0">
              <a:buNone/>
            </a:pPr>
            <a:r>
              <a:rPr lang="en-US" sz="1300" kern="0" spc="300" dirty="0">
                <a:solidFill>
                  <a:srgbClr val="005A9E"/>
                </a:solidFill>
                <a:latin typeface="Segoe UI Semibold" pitchFamily="34" charset="0"/>
                <a:ea typeface="Segoe UI Semibold" pitchFamily="34" charset="-122"/>
                <a:cs typeface="Segoe UI Semibold" pitchFamily="34" charset="-120"/>
              </a:rPr>
              <a:t>STEP 2</a:t>
            </a:r>
            <a:endParaRPr lang="en-US" sz="1300" dirty="0"/>
          </a:p>
        </p:txBody>
      </p:sp>
      <p:sp>
        <p:nvSpPr>
          <p:cNvPr id="11" name="Text 9"/>
          <p:cNvSpPr/>
          <p:nvPr/>
        </p:nvSpPr>
        <p:spPr>
          <a:xfrm>
            <a:off x="868680" y="3035808"/>
            <a:ext cx="4023360" cy="502920"/>
          </a:xfrm>
          <a:prstGeom prst="rect">
            <a:avLst/>
          </a:prstGeom>
          <a:noFill/>
          <a:ln/>
        </p:spPr>
        <p:txBody>
          <a:bodyPr wrap="square" lIns="0" tIns="0" rIns="0" bIns="0" rtlCol="0" anchor="t"/>
          <a:lstStyle/>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Scale to zero?</a:t>
            </a:r>
            <a:endParaRPr lang="en-US" sz="1500" dirty="0"/>
          </a:p>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Pull the image without a password?</a:t>
            </a:r>
            <a:endParaRPr lang="en-US" sz="1500" dirty="0"/>
          </a:p>
        </p:txBody>
      </p:sp>
      <p:sp>
        <p:nvSpPr>
          <p:cNvPr id="12" name="Text 10"/>
          <p:cNvSpPr/>
          <p:nvPr/>
        </p:nvSpPr>
        <p:spPr>
          <a:xfrm>
            <a:off x="5120640" y="3035808"/>
            <a:ext cx="6263640" cy="548640"/>
          </a:xfrm>
          <a:prstGeom prst="rect">
            <a:avLst/>
          </a:prstGeom>
          <a:noFill/>
          <a:ln/>
        </p:spPr>
        <p:txBody>
          <a:bodyPr wrap="square" lIns="0" tIns="0" rIns="0" bIns="0" rtlCol="0" anchor="t"/>
          <a:lstStyle/>
          <a:p>
            <a:pPr marL="0" indent="0">
              <a:buNone/>
            </a:pPr>
            <a:r>
              <a:rPr lang="en-US" sz="1500" dirty="0">
                <a:solidFill>
                  <a:srgbClr val="242424"/>
                </a:solidFill>
                <a:latin typeface="Consolas" pitchFamily="34" charset="0"/>
                <a:ea typeface="Consolas" pitchFamily="34" charset="-122"/>
                <a:cs typeface="Consolas" pitchFamily="34" charset="-120"/>
              </a:rPr>
              <a:t>minReplicas: 0</a:t>
            </a:r>
            <a:r>
              <a:rPr lang="en-US" sz="1500" dirty="0">
                <a:solidFill>
                  <a:srgbClr val="242424"/>
                </a:solidFill>
                <a:latin typeface="Segoe UI" pitchFamily="34" charset="0"/>
                <a:ea typeface="Segoe UI" pitchFamily="34" charset="-122"/>
                <a:cs typeface="Segoe UI" pitchFamily="34" charset="-120"/>
              </a:rPr>
              <a:t>. The managed identity has the AcrPull role.</a:t>
            </a:r>
            <a:endParaRPr lang="en-US" sz="1500" dirty="0"/>
          </a:p>
        </p:txBody>
      </p:sp>
      <p:sp>
        <p:nvSpPr>
          <p:cNvPr id="13" name="Shape 11"/>
          <p:cNvSpPr/>
          <p:nvPr/>
        </p:nvSpPr>
        <p:spPr>
          <a:xfrm>
            <a:off x="548640" y="3886200"/>
            <a:ext cx="11091672" cy="10058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4" name="Shape 12"/>
          <p:cNvSpPr/>
          <p:nvPr/>
        </p:nvSpPr>
        <p:spPr>
          <a:xfrm>
            <a:off x="548640" y="3886200"/>
            <a:ext cx="82296" cy="1005840"/>
          </a:xfrm>
          <a:prstGeom prst="rect">
            <a:avLst/>
          </a:prstGeom>
          <a:solidFill>
            <a:srgbClr val="5C2D91"/>
          </a:solidFill>
          <a:ln w="12700">
            <a:solidFill>
              <a:srgbClr val="5C2D91"/>
            </a:solidFill>
            <a:prstDash val="solid"/>
          </a:ln>
        </p:spPr>
        <p:txBody>
          <a:bodyPr/>
          <a:lstStyle/>
          <a:p>
            <a:endParaRPr lang="en-ZA"/>
          </a:p>
        </p:txBody>
      </p:sp>
      <p:sp>
        <p:nvSpPr>
          <p:cNvPr id="15" name="Text 13"/>
          <p:cNvSpPr/>
          <p:nvPr/>
        </p:nvSpPr>
        <p:spPr>
          <a:xfrm>
            <a:off x="868680" y="4023360"/>
            <a:ext cx="3931920" cy="274320"/>
          </a:xfrm>
          <a:prstGeom prst="rect">
            <a:avLst/>
          </a:prstGeom>
          <a:noFill/>
          <a:ln/>
        </p:spPr>
        <p:txBody>
          <a:bodyPr wrap="square" lIns="0" tIns="0" rIns="0" bIns="0" rtlCol="0" anchor="ctr"/>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STEP 3</a:t>
            </a:r>
            <a:endParaRPr lang="en-US" sz="1300" dirty="0"/>
          </a:p>
        </p:txBody>
      </p:sp>
      <p:sp>
        <p:nvSpPr>
          <p:cNvPr id="16" name="Text 14"/>
          <p:cNvSpPr/>
          <p:nvPr/>
        </p:nvSpPr>
        <p:spPr>
          <a:xfrm>
            <a:off x="868680" y="4315968"/>
            <a:ext cx="4023360" cy="502920"/>
          </a:xfrm>
          <a:prstGeom prst="rect">
            <a:avLst/>
          </a:prstGeom>
          <a:noFill/>
          <a:ln/>
        </p:spPr>
        <p:txBody>
          <a:bodyPr wrap="square" lIns="0" tIns="0" rIns="0" bIns="0" rtlCol="0" anchor="t"/>
          <a:lstStyle/>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Permission to use the model?</a:t>
            </a:r>
            <a:endParaRPr lang="en-US" sz="1500" dirty="0"/>
          </a:p>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Any API key?</a:t>
            </a:r>
            <a:endParaRPr lang="en-US" sz="1500" dirty="0"/>
          </a:p>
        </p:txBody>
      </p:sp>
      <p:sp>
        <p:nvSpPr>
          <p:cNvPr id="17" name="Text 15"/>
          <p:cNvSpPr/>
          <p:nvPr/>
        </p:nvSpPr>
        <p:spPr>
          <a:xfrm>
            <a:off x="5120640" y="4315968"/>
            <a:ext cx="6263640" cy="548640"/>
          </a:xfrm>
          <a:prstGeom prst="rect">
            <a:avLst/>
          </a:prstGeom>
          <a:noFill/>
          <a:ln/>
        </p:spPr>
        <p:txBody>
          <a:bodyPr wrap="square" lIns="0" tIns="0" rIns="0" bIns="0" rtlCol="0" anchor="t"/>
          <a:lstStyle/>
          <a:p>
            <a:pPr marL="0" indent="0">
              <a:buNone/>
            </a:pPr>
            <a:r>
              <a:rPr lang="en-US" sz="1500" dirty="0">
                <a:solidFill>
                  <a:srgbClr val="242424"/>
                </a:solidFill>
                <a:latin typeface="Segoe UI" pitchFamily="34" charset="0"/>
                <a:ea typeface="Segoe UI" pitchFamily="34" charset="-122"/>
                <a:cs typeface="Segoe UI" pitchFamily="34" charset="-120"/>
              </a:rPr>
              <a:t xml:space="preserve">The managed identity has the Foundry User role. Keys are off: </a:t>
            </a:r>
            <a:r>
              <a:rPr lang="en-US" sz="1500" dirty="0">
                <a:solidFill>
                  <a:srgbClr val="242424"/>
                </a:solidFill>
                <a:latin typeface="Consolas" pitchFamily="34" charset="0"/>
                <a:ea typeface="Consolas" pitchFamily="34" charset="-122"/>
                <a:cs typeface="Consolas" pitchFamily="34" charset="-120"/>
              </a:rPr>
              <a:t>disableLocalAuth: true</a:t>
            </a:r>
            <a:r>
              <a:rPr lang="en-US" sz="1500" dirty="0">
                <a:solidFill>
                  <a:srgbClr val="242424"/>
                </a:solidFill>
                <a:latin typeface="Segoe UI" pitchFamily="34" charset="0"/>
                <a:ea typeface="Segoe UI" pitchFamily="34" charset="-122"/>
                <a:cs typeface="Segoe UI" pitchFamily="34" charset="-120"/>
              </a:rPr>
              <a:t>.</a:t>
            </a:r>
            <a:endParaRPr lang="en-US" sz="1500" dirty="0"/>
          </a:p>
        </p:txBody>
      </p:sp>
      <p:sp>
        <p:nvSpPr>
          <p:cNvPr id="18" name="Shape 16"/>
          <p:cNvSpPr/>
          <p:nvPr/>
        </p:nvSpPr>
        <p:spPr>
          <a:xfrm>
            <a:off x="548640" y="5166360"/>
            <a:ext cx="11091672" cy="100584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ZA"/>
          </a:p>
        </p:txBody>
      </p:sp>
      <p:sp>
        <p:nvSpPr>
          <p:cNvPr id="19" name="Shape 17"/>
          <p:cNvSpPr/>
          <p:nvPr/>
        </p:nvSpPr>
        <p:spPr>
          <a:xfrm>
            <a:off x="548640" y="5166360"/>
            <a:ext cx="82296" cy="1005840"/>
          </a:xfrm>
          <a:prstGeom prst="rect">
            <a:avLst/>
          </a:prstGeom>
          <a:solidFill>
            <a:srgbClr val="107C10"/>
          </a:solidFill>
          <a:ln w="12700">
            <a:solidFill>
              <a:srgbClr val="107C10"/>
            </a:solidFill>
            <a:prstDash val="solid"/>
          </a:ln>
        </p:spPr>
        <p:txBody>
          <a:bodyPr/>
          <a:lstStyle/>
          <a:p>
            <a:endParaRPr lang="en-ZA"/>
          </a:p>
        </p:txBody>
      </p:sp>
      <p:sp>
        <p:nvSpPr>
          <p:cNvPr id="20" name="Text 18"/>
          <p:cNvSpPr/>
          <p:nvPr/>
        </p:nvSpPr>
        <p:spPr>
          <a:xfrm>
            <a:off x="868680" y="5303520"/>
            <a:ext cx="3931920" cy="274320"/>
          </a:xfrm>
          <a:prstGeom prst="rect">
            <a:avLst/>
          </a:prstGeom>
          <a:noFill/>
          <a:ln/>
        </p:spPr>
        <p:txBody>
          <a:bodyPr wrap="square" lIns="0" tIns="0" rIns="0" bIns="0" rtlCol="0" anchor="ctr"/>
          <a:lstStyle/>
          <a:p>
            <a:pPr marL="0" indent="0">
              <a:buNone/>
            </a:pPr>
            <a:r>
              <a:rPr lang="en-US" sz="1300" kern="0" spc="300" dirty="0">
                <a:solidFill>
                  <a:srgbClr val="107C10"/>
                </a:solidFill>
                <a:latin typeface="Segoe UI Semibold" pitchFamily="34" charset="0"/>
                <a:ea typeface="Segoe UI Semibold" pitchFamily="34" charset="-122"/>
                <a:cs typeface="Segoe UI Semibold" pitchFamily="34" charset="-120"/>
              </a:rPr>
              <a:t>STEP 4</a:t>
            </a:r>
            <a:endParaRPr lang="en-US" sz="1300" dirty="0"/>
          </a:p>
        </p:txBody>
      </p:sp>
      <p:sp>
        <p:nvSpPr>
          <p:cNvPr id="21" name="Text 19"/>
          <p:cNvSpPr/>
          <p:nvPr/>
        </p:nvSpPr>
        <p:spPr>
          <a:xfrm>
            <a:off x="868680" y="5596128"/>
            <a:ext cx="4023360" cy="502920"/>
          </a:xfrm>
          <a:prstGeom prst="rect">
            <a:avLst/>
          </a:prstGeom>
          <a:noFill/>
          <a:ln/>
        </p:spPr>
        <p:txBody>
          <a:bodyPr wrap="square" lIns="0" tIns="0" rIns="0" bIns="0" rtlCol="0" anchor="t"/>
          <a:lstStyle/>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How many model calls?</a:t>
            </a:r>
            <a:endParaRPr lang="en-US" sz="1500" dirty="0"/>
          </a:p>
          <a:p>
            <a:pPr marL="0" indent="0">
              <a:buNone/>
            </a:pPr>
            <a:r>
              <a:rPr lang="en-US" sz="1500" dirty="0">
                <a:solidFill>
                  <a:srgbClr val="242424"/>
                </a:solidFill>
                <a:latin typeface="Segoe UI Semibold" pitchFamily="34" charset="0"/>
                <a:ea typeface="Segoe UI Semibold" pitchFamily="34" charset="-122"/>
                <a:cs typeface="Segoe UI Semibold" pitchFamily="34" charset="-120"/>
              </a:rPr>
              <a:t>What does a question cost?</a:t>
            </a:r>
            <a:endParaRPr lang="en-US" sz="1500" dirty="0"/>
          </a:p>
        </p:txBody>
      </p:sp>
      <p:sp>
        <p:nvSpPr>
          <p:cNvPr id="22" name="Text 20"/>
          <p:cNvSpPr/>
          <p:nvPr/>
        </p:nvSpPr>
        <p:spPr>
          <a:xfrm>
            <a:off x="5120640" y="5596128"/>
            <a:ext cx="6263640" cy="548640"/>
          </a:xfrm>
          <a:prstGeom prst="rect">
            <a:avLst/>
          </a:prstGeom>
          <a:noFill/>
          <a:ln/>
        </p:spPr>
        <p:txBody>
          <a:bodyPr wrap="square" lIns="0" tIns="0" rIns="0" bIns="0" rtlCol="0" anchor="t"/>
          <a:lstStyle/>
          <a:p>
            <a:pPr marL="0" indent="0">
              <a:buNone/>
            </a:pPr>
            <a:r>
              <a:rPr lang="en-US" sz="1500" dirty="0">
                <a:solidFill>
                  <a:srgbClr val="242424"/>
                </a:solidFill>
                <a:latin typeface="Segoe UI" pitchFamily="34" charset="0"/>
                <a:ea typeface="Segoe UI" pitchFamily="34" charset="-122"/>
                <a:cs typeface="Segoe UI" pitchFamily="34" charset="-120"/>
              </a:rPr>
              <a:t xml:space="preserve">Two: it asks for </a:t>
            </a:r>
            <a:r>
              <a:rPr lang="en-US" sz="1500" dirty="0">
                <a:solidFill>
                  <a:srgbClr val="242424"/>
                </a:solidFill>
                <a:latin typeface="Consolas" pitchFamily="34" charset="0"/>
                <a:ea typeface="Consolas" pitchFamily="34" charset="-122"/>
                <a:cs typeface="Consolas" pitchFamily="34" charset="-120"/>
              </a:rPr>
              <a:t>listProducts</a:t>
            </a:r>
            <a:r>
              <a:rPr lang="en-US" sz="1500" dirty="0">
                <a:solidFill>
                  <a:srgbClr val="242424"/>
                </a:solidFill>
                <a:latin typeface="Segoe UI" pitchFamily="34" charset="0"/>
                <a:ea typeface="Segoe UI" pitchFamily="34" charset="-122"/>
                <a:cs typeface="Segoe UI" pitchFamily="34" charset="-120"/>
              </a:rPr>
              <a:t>, then writes the answer. Off-topic questions usually need one. About $0.00008 each.</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2A28"/>
        </a:solidFill>
        <a:effectLst/>
      </p:bgPr>
    </p:bg>
    <p:spTree>
      <p:nvGrpSpPr>
        <p:cNvPr id="1" name=""/>
        <p:cNvGrpSpPr/>
        <p:nvPr/>
      </p:nvGrpSpPr>
      <p:grpSpPr>
        <a:xfrm>
          <a:off x="0" y="0"/>
          <a:ext cx="0" cy="0"/>
          <a:chOff x="0" y="0"/>
          <a:chExt cx="0" cy="0"/>
        </a:xfrm>
      </p:grpSpPr>
      <p:sp>
        <p:nvSpPr>
          <p:cNvPr id="2" name="Text 0"/>
          <p:cNvSpPr/>
          <p:nvPr/>
        </p:nvSpPr>
        <p:spPr>
          <a:xfrm>
            <a:off x="685800" y="1143000"/>
            <a:ext cx="10789920" cy="822960"/>
          </a:xfrm>
          <a:prstGeom prst="rect">
            <a:avLst/>
          </a:prstGeom>
          <a:noFill/>
          <a:ln/>
        </p:spPr>
        <p:txBody>
          <a:bodyPr wrap="square" lIns="0" tIns="0" rIns="0" bIns="0" rtlCol="0" anchor="ctr"/>
          <a:lstStyle/>
          <a:p>
            <a:pPr marL="0" indent="0">
              <a:buNone/>
            </a:pPr>
            <a:r>
              <a:rPr lang="en-US" sz="4000" dirty="0">
                <a:solidFill>
                  <a:srgbClr val="F7F4EF"/>
                </a:solidFill>
                <a:latin typeface="Segoe UI Semibold" pitchFamily="34" charset="0"/>
                <a:ea typeface="Segoe UI Semibold" pitchFamily="34" charset="-122"/>
                <a:cs typeface="Segoe UI Semibold" pitchFamily="34" charset="-120"/>
              </a:rPr>
              <a:t>Run it. Ship it. Add AI. See inside.</a:t>
            </a:r>
            <a:endParaRPr lang="en-US" sz="4000" dirty="0"/>
          </a:p>
        </p:txBody>
      </p:sp>
      <p:sp>
        <p:nvSpPr>
          <p:cNvPr id="3" name="Text 1"/>
          <p:cNvSpPr/>
          <p:nvPr/>
        </p:nvSpPr>
        <p:spPr>
          <a:xfrm>
            <a:off x="685800" y="2194560"/>
            <a:ext cx="7315200" cy="411480"/>
          </a:xfrm>
          <a:prstGeom prst="rect">
            <a:avLst/>
          </a:prstGeom>
          <a:noFill/>
          <a:ln/>
        </p:spPr>
        <p:txBody>
          <a:bodyPr wrap="square" lIns="0" tIns="0" rIns="0" bIns="0" rtlCol="0" anchor="ctr"/>
          <a:lstStyle/>
          <a:p>
            <a:pPr marL="0" indent="0">
              <a:buNone/>
            </a:pPr>
            <a:r>
              <a:rPr lang="en-US" sz="1800" dirty="0">
                <a:solidFill>
                  <a:srgbClr val="C9C4BE"/>
                </a:solidFill>
                <a:latin typeface="Segoe UI" pitchFamily="34" charset="0"/>
                <a:ea typeface="Segoe UI" pitchFamily="34" charset="-122"/>
                <a:cs typeface="Segoe UI" pitchFamily="34" charset="-120"/>
              </a:rPr>
              <a:t>Try it on your own Azure subscription</a:t>
            </a:r>
            <a:endParaRPr lang="en-US" sz="1800" dirty="0"/>
          </a:p>
        </p:txBody>
      </p:sp>
      <p:sp>
        <p:nvSpPr>
          <p:cNvPr id="4" name="Shape 2"/>
          <p:cNvSpPr/>
          <p:nvPr/>
        </p:nvSpPr>
        <p:spPr>
          <a:xfrm>
            <a:off x="685800" y="2743200"/>
            <a:ext cx="7315200" cy="2240280"/>
          </a:xfrm>
          <a:prstGeom prst="rect">
            <a:avLst/>
          </a:prstGeom>
          <a:solidFill>
            <a:srgbClr val="3A3532"/>
          </a:solidFill>
          <a:ln w="12700">
            <a:solidFill>
              <a:srgbClr val="6B6460"/>
            </a:solidFill>
            <a:prstDash val="solid"/>
          </a:ln>
        </p:spPr>
        <p:txBody>
          <a:bodyPr/>
          <a:lstStyle/>
          <a:p>
            <a:endParaRPr lang="en-ZA"/>
          </a:p>
        </p:txBody>
      </p:sp>
      <p:sp>
        <p:nvSpPr>
          <p:cNvPr id="5" name="Text 3"/>
          <p:cNvSpPr/>
          <p:nvPr/>
        </p:nvSpPr>
        <p:spPr>
          <a:xfrm>
            <a:off x="960120" y="2743200"/>
            <a:ext cx="6858000" cy="2240280"/>
          </a:xfrm>
          <a:prstGeom prst="rect">
            <a:avLst/>
          </a:prstGeom>
          <a:noFill/>
          <a:ln/>
        </p:spPr>
        <p:txBody>
          <a:bodyPr wrap="square" lIns="0" tIns="0" rIns="0" bIns="0" rtlCol="0" anchor="ctr"/>
          <a:lstStyle/>
          <a:p>
            <a:pPr marL="0" indent="0">
              <a:spcAft>
                <a:spcPts val="400"/>
              </a:spcAft>
              <a:buNone/>
            </a:pPr>
            <a:r>
              <a:rPr lang="en-US" sz="1600" dirty="0">
                <a:solidFill>
                  <a:srgbClr val="F7F4EF"/>
                </a:solidFill>
                <a:latin typeface="Consolas" pitchFamily="34" charset="0"/>
                <a:ea typeface="Consolas" pitchFamily="34" charset="-122"/>
                <a:cs typeface="Consolas" pitchFamily="34" charset="-120"/>
              </a:rPr>
              <a:t>git clone https://github.com/roryp/spring-ai-webstore</a:t>
            </a:r>
            <a:endParaRPr lang="en-US" sz="1600" dirty="0"/>
          </a:p>
          <a:p>
            <a:pPr marL="0" indent="0">
              <a:spcAft>
                <a:spcPts val="400"/>
              </a:spcAft>
              <a:buNone/>
            </a:pPr>
            <a:r>
              <a:rPr lang="en-US" sz="1600" dirty="0">
                <a:solidFill>
                  <a:srgbClr val="F7F4EF"/>
                </a:solidFill>
                <a:latin typeface="Consolas" pitchFamily="34" charset="0"/>
                <a:ea typeface="Consolas" pitchFamily="34" charset="-122"/>
                <a:cs typeface="Consolas" pitchFamily="34" charset="-120"/>
              </a:rPr>
              <a:t>cd spring-ai-webstore/step-2-azure</a:t>
            </a:r>
            <a:endParaRPr lang="en-US" sz="1600" dirty="0"/>
          </a:p>
          <a:p>
            <a:pPr marL="0" indent="0">
              <a:spcAft>
                <a:spcPts val="400"/>
              </a:spcAft>
              <a:buNone/>
            </a:pPr>
            <a:r>
              <a:rPr lang="en-US" sz="1600" dirty="0">
                <a:solidFill>
                  <a:srgbClr val="F7F4EF"/>
                </a:solidFill>
                <a:latin typeface="Consolas" pitchFamily="34" charset="0"/>
                <a:ea typeface="Consolas" pitchFamily="34" charset="-122"/>
                <a:cs typeface="Consolas" pitchFamily="34" charset="-120"/>
              </a:rPr>
              <a:t>azd auth login</a:t>
            </a:r>
            <a:endParaRPr lang="en-US" sz="1600" dirty="0"/>
          </a:p>
          <a:p>
            <a:pPr marL="0" indent="0">
              <a:spcAft>
                <a:spcPts val="400"/>
              </a:spcAft>
              <a:buNone/>
            </a:pPr>
            <a:r>
              <a:rPr lang="en-US" sz="1600" dirty="0">
                <a:solidFill>
                  <a:srgbClr val="F7F4EF"/>
                </a:solidFill>
                <a:latin typeface="Consolas" pitchFamily="34" charset="0"/>
                <a:ea typeface="Consolas" pitchFamily="34" charset="-122"/>
                <a:cs typeface="Consolas" pitchFamily="34" charset="-120"/>
              </a:rPr>
              <a:t>azd up</a:t>
            </a:r>
            <a:endParaRPr lang="en-US" sz="1600" dirty="0"/>
          </a:p>
          <a:p>
            <a:pPr marL="0" indent="0">
              <a:spcAft>
                <a:spcPts val="400"/>
              </a:spcAft>
              <a:buNone/>
            </a:pPr>
            <a:r>
              <a:rPr lang="en-US" sz="1600" dirty="0">
                <a:solidFill>
                  <a:srgbClr val="F7F4EF"/>
                </a:solidFill>
                <a:latin typeface="Consolas" pitchFamily="34" charset="0"/>
                <a:ea typeface="Consolas" pitchFamily="34" charset="-122"/>
                <a:cs typeface="Consolas" pitchFamily="34" charset="-120"/>
              </a:rPr>
              <a:t>azd down --purge</a:t>
            </a:r>
            <a:r>
              <a:rPr lang="en-US" sz="1600" dirty="0">
                <a:solidFill>
                  <a:srgbClr val="C9C4BE"/>
                </a:solidFill>
                <a:latin typeface="Consolas" pitchFamily="34" charset="0"/>
                <a:ea typeface="Consolas" pitchFamily="34" charset="-122"/>
                <a:cs typeface="Consolas" pitchFamily="34" charset="-120"/>
              </a:rPr>
              <a:t xml:space="preserve">    # when you're done</a:t>
            </a:r>
            <a:endParaRPr lang="en-US" sz="1600" dirty="0"/>
          </a:p>
        </p:txBody>
      </p:sp>
      <p:sp>
        <p:nvSpPr>
          <p:cNvPr id="6" name="Text 4"/>
          <p:cNvSpPr/>
          <p:nvPr/>
        </p:nvSpPr>
        <p:spPr>
          <a:xfrm>
            <a:off x="8503920" y="2743200"/>
            <a:ext cx="3200400" cy="731520"/>
          </a:xfrm>
          <a:prstGeom prst="rect">
            <a:avLst/>
          </a:prstGeom>
          <a:noFill/>
          <a:ln/>
        </p:spPr>
        <p:txBody>
          <a:bodyPr wrap="square" lIns="0" tIns="0" rIns="0" bIns="0" rtlCol="0" anchor="t"/>
          <a:lstStyle/>
          <a:p>
            <a:pPr marL="0" indent="0">
              <a:buNone/>
            </a:pPr>
            <a:r>
              <a:rPr lang="en-US" sz="4000" dirty="0">
                <a:solidFill>
                  <a:srgbClr val="FD8EA1"/>
                </a:solidFill>
                <a:latin typeface="Segoe UI Semibold" pitchFamily="34" charset="0"/>
                <a:ea typeface="Segoe UI Semibold" pitchFamily="34" charset="-122"/>
                <a:cs typeface="Segoe UI Semibold" pitchFamily="34" charset="-120"/>
              </a:rPr>
              <a:t>Questions?</a:t>
            </a:r>
            <a:endParaRPr lang="en-US" sz="4000" dirty="0"/>
          </a:p>
        </p:txBody>
      </p:sp>
      <p:sp>
        <p:nvSpPr>
          <p:cNvPr id="7" name="Text 5"/>
          <p:cNvSpPr/>
          <p:nvPr/>
        </p:nvSpPr>
        <p:spPr>
          <a:xfrm>
            <a:off x="8503920" y="3566160"/>
            <a:ext cx="3017520" cy="822960"/>
          </a:xfrm>
          <a:prstGeom prst="rect">
            <a:avLst/>
          </a:prstGeom>
          <a:noFill/>
          <a:ln/>
        </p:spPr>
        <p:txBody>
          <a:bodyPr wrap="square" lIns="0" tIns="0" rIns="0" bIns="0" rtlCol="0" anchor="t"/>
          <a:lstStyle/>
          <a:p>
            <a:pPr marL="0" indent="0">
              <a:buNone/>
            </a:pPr>
            <a:r>
              <a:rPr lang="en-US" sz="1600" dirty="0">
                <a:solidFill>
                  <a:srgbClr val="F7F4EF"/>
                </a:solidFill>
                <a:latin typeface="Segoe UI" pitchFamily="34" charset="0"/>
                <a:ea typeface="Segoe UI" pitchFamily="34" charset="-122"/>
                <a:cs typeface="Segoe UI" pitchFamily="34" charset="-120"/>
              </a:rPr>
              <a:t>The code, diagrams and these slides are all in the repo.</a:t>
            </a:r>
            <a:endParaRPr lang="en-US" sz="1600" dirty="0"/>
          </a:p>
        </p:txBody>
      </p:sp>
      <p:sp>
        <p:nvSpPr>
          <p:cNvPr id="8" name="Text 6"/>
          <p:cNvSpPr/>
          <p:nvPr/>
        </p:nvSpPr>
        <p:spPr>
          <a:xfrm>
            <a:off x="685800" y="5303520"/>
            <a:ext cx="7315200" cy="365760"/>
          </a:xfrm>
          <a:prstGeom prst="rect">
            <a:avLst/>
          </a:prstGeom>
          <a:noFill/>
          <a:ln/>
        </p:spPr>
        <p:txBody>
          <a:bodyPr wrap="square" lIns="0" tIns="0" rIns="0" bIns="0" rtlCol="0" anchor="ctr"/>
          <a:lstStyle/>
          <a:p>
            <a:pPr marL="0" indent="0">
              <a:buNone/>
            </a:pPr>
            <a:r>
              <a:rPr lang="en-US" sz="1500" dirty="0">
                <a:solidFill>
                  <a:srgbClr val="C9C4BE"/>
                </a:solidFill>
                <a:latin typeface="Consolas" pitchFamily="34" charset="0"/>
                <a:ea typeface="Consolas" pitchFamily="34" charset="-122"/>
                <a:cs typeface="Consolas" pitchFamily="34" charset="-120"/>
              </a:rPr>
              <a:t>github.com/roryp/spring-ai-webstore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Copilot SDK">
    <p:bg>
      <p:bgPr>
        <a:solidFill>
          <a:srgbClr val="F7F4EF"/>
        </a:solidFill>
        <a:effectLst/>
      </p:bgPr>
    </p:bg>
    <p:spTree>
      <p:nvGrpSpPr>
        <p:cNvPr id="1" name=""/>
        <p:cNvGrpSpPr/>
        <p:nvPr/>
      </p:nvGrpSpPr>
      <p:grpSpPr>
        <a:xfrm>
          <a:off x="0" y="0"/>
          <a:ext cx="0" cy="0"/>
          <a:chOff x="0" y="0"/>
          <a:chExt cx="0" cy="0"/>
        </a:xfrm>
      </p:grpSpPr>
      <p:sp>
        <p:nvSpPr>
          <p:cNvPr id="2" name="Title"/>
          <p:cNvSpPr/>
          <p:nvPr/>
        </p:nvSpPr>
        <p:spPr>
          <a:xfrm>
            <a:off x="548640" y="320040"/>
            <a:ext cx="11064240" cy="566928"/>
          </a:xfrm>
          <a:prstGeom prst="rect">
            <a:avLst/>
          </a:prstGeom>
          <a:noFill/>
          <a:ln/>
        </p:spPr>
        <p:txBody>
          <a:bodyPr wrap="square" lIns="0" tIns="0" rIns="0" bIns="0" rtlCol="0" anchor="ctr"/>
          <a:lstStyle/>
          <a:p>
            <a:pPr marL="0" indent="0">
              <a:buNone/>
            </a:pPr>
            <a:r>
              <a:rPr lang="en-US" sz="3200" dirty="0">
                <a:solidFill>
                  <a:srgbClr val="5C2D91"/>
                </a:solidFill>
                <a:latin typeface="Segoe UI Semibold" pitchFamily="34" charset="0"/>
                <a:ea typeface="Segoe UI Semibold" pitchFamily="34" charset="-122"/>
                <a:cs typeface="Segoe UI Semibold" pitchFamily="34" charset="-120"/>
              </a:rPr>
              <a:t xml:space="preserve">Step 3   </a:t>
            </a:r>
            <a:r>
              <a:rPr lang="en-US" sz="3200" dirty="0">
                <a:solidFill>
                  <a:srgbClr val="242424"/>
                </a:solidFill>
                <a:latin typeface="Segoe UI Semibold" pitchFamily="34" charset="0"/>
                <a:ea typeface="Segoe UI Semibold" pitchFamily="34" charset="-122"/>
                <a:cs typeface="Segoe UI Semibold" pitchFamily="34" charset="-120"/>
              </a:rPr>
              <a:t>Going further: the GitHub Copilot SDK</a:t>
            </a:r>
            <a:endParaRPr lang="en-US" sz="3200" dirty="0"/>
          </a:p>
        </p:txBody>
      </p:sp>
      <p:sp>
        <p:nvSpPr>
          <p:cNvPr id="3" name="Saw card"/>
          <p:cNvSpPr/>
          <p:nvPr/>
        </p:nvSpPr>
        <p:spPr>
          <a:xfrm>
            <a:off x="548640" y="1325880"/>
            <a:ext cx="5134356" cy="246888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US"/>
          </a:p>
        </p:txBody>
      </p:sp>
      <p:sp>
        <p:nvSpPr>
          <p:cNvPr id="4" name="Saw card bar"/>
          <p:cNvSpPr/>
          <p:nvPr/>
        </p:nvSpPr>
        <p:spPr>
          <a:xfrm>
            <a:off x="548640" y="1325880"/>
            <a:ext cx="82296" cy="2468880"/>
          </a:xfrm>
          <a:prstGeom prst="rect">
            <a:avLst/>
          </a:prstGeom>
          <a:solidFill>
            <a:srgbClr val="5C2D91"/>
          </a:solidFill>
          <a:ln w="12700">
            <a:solidFill>
              <a:srgbClr val="5C2D91"/>
            </a:solidFill>
            <a:prstDash val="solid"/>
          </a:ln>
        </p:spPr>
        <p:txBody>
          <a:bodyPr/>
          <a:lstStyle/>
          <a:p>
            <a:endParaRPr lang="en-US"/>
          </a:p>
        </p:txBody>
      </p:sp>
      <p:sp>
        <p:nvSpPr>
          <p:cNvPr id="5" name="Saw label"/>
          <p:cNvSpPr/>
          <p:nvPr/>
        </p:nvSpPr>
        <p:spPr>
          <a:xfrm>
            <a:off x="914400" y="1645920"/>
            <a:ext cx="4494276" cy="228600"/>
          </a:xfrm>
          <a:prstGeom prst="rect">
            <a:avLst/>
          </a:prstGeom>
          <a:noFill/>
          <a:ln/>
        </p:spPr>
        <p:txBody>
          <a:bodyPr wrap="square" lIns="0" tIns="0" rIns="0" bIns="0" rtlCol="0" anchor="t"/>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WHAT YOU JUST SAW</a:t>
            </a:r>
            <a:endParaRPr lang="en-US" sz="1300" dirty="0"/>
          </a:p>
        </p:txBody>
      </p:sp>
      <p:sp>
        <p:nvSpPr>
          <p:cNvPr id="6" name="Saw heading"/>
          <p:cNvSpPr/>
          <p:nvPr/>
        </p:nvSpPr>
        <p:spPr>
          <a:xfrm>
            <a:off x="914400" y="1965960"/>
            <a:ext cx="4494276" cy="411480"/>
          </a:xfrm>
          <a:prstGeom prst="rect">
            <a:avLst/>
          </a:prstGeom>
          <a:noFill/>
          <a:ln/>
        </p:spPr>
        <p:txBody>
          <a:bodyPr wrap="square" lIns="0" tIns="0" rIns="0" bIns="0" rtlCol="0" anchor="t"/>
          <a:lstStyle/>
          <a:p>
            <a:pPr marL="0" indent="0">
              <a:buNone/>
            </a:pPr>
            <a:r>
              <a:rPr lang="en-US" sz="2400" dirty="0">
                <a:solidFill>
                  <a:srgbClr val="242424"/>
                </a:solidFill>
                <a:latin typeface="Segoe UI Semibold" pitchFamily="34" charset="0"/>
                <a:ea typeface="Segoe UI Semibold" pitchFamily="34" charset="-122"/>
                <a:cs typeface="Segoe UI Semibold" pitchFamily="34" charset="-120"/>
              </a:rPr>
              <a:t>One question, one tool</a:t>
            </a:r>
            <a:endParaRPr lang="en-US" sz="2400" dirty="0"/>
          </a:p>
        </p:txBody>
      </p:sp>
      <p:sp>
        <p:nvSpPr>
          <p:cNvPr id="7" name="Saw body"/>
          <p:cNvSpPr/>
          <p:nvPr/>
        </p:nvSpPr>
        <p:spPr>
          <a:xfrm>
            <a:off x="914400" y="2468880"/>
            <a:ext cx="4494276" cy="594360"/>
          </a:xfrm>
          <a:prstGeom prst="rect">
            <a:avLst/>
          </a:prstGeom>
          <a:noFill/>
          <a:ln/>
        </p:spPr>
        <p:txBody>
          <a:bodyPr wrap="square" lIns="0" tIns="0" rIns="0" bIns="0" rtlCol="0" anchor="t"/>
          <a:lstStyle/>
          <a:p>
            <a:pPr marL="0" indent="0">
              <a:buNone/>
            </a:pPr>
            <a:r>
              <a:rPr lang="en-US" sz="1600" dirty="0">
                <a:solidFill>
                  <a:srgbClr val="242424"/>
                </a:solidFill>
                <a:latin typeface="Segoe UI" pitchFamily="34" charset="0"/>
                <a:ea typeface="Segoe UI" pitchFamily="34" charset="-122"/>
                <a:cs typeface="Segoe UI" pitchFamily="34" charset="-120"/>
              </a:rPr>
              <a:t>In this app, the model asks to run your Java method, then answers your question.</a:t>
            </a:r>
            <a:endParaRPr lang="en-US" sz="1600" dirty="0"/>
          </a:p>
        </p:txBody>
      </p:sp>
      <p:sp>
        <p:nvSpPr>
          <p:cNvPr id="8" name="Saw code"/>
          <p:cNvSpPr/>
          <p:nvPr/>
        </p:nvSpPr>
        <p:spPr>
          <a:xfrm>
            <a:off x="914400" y="3200400"/>
            <a:ext cx="4494276" cy="274320"/>
          </a:xfrm>
          <a:prstGeom prst="rect">
            <a:avLst/>
          </a:prstGeom>
          <a:noFill/>
          <a:ln/>
        </p:spPr>
        <p:txBody>
          <a:bodyPr wrap="square" lIns="0" tIns="0" rIns="0" bIns="0" rtlCol="0" anchor="t"/>
          <a:lstStyle/>
          <a:p>
            <a:pPr marL="0" indent="0">
              <a:buNone/>
            </a:pPr>
            <a:r>
              <a:rPr lang="en-US" sz="1600" dirty="0">
                <a:solidFill>
                  <a:srgbClr val="5C2D91"/>
                </a:solidFill>
                <a:latin typeface="Consolas" pitchFamily="34" charset="0"/>
                <a:ea typeface="Consolas" pitchFamily="34" charset="-122"/>
                <a:cs typeface="Consolas" pitchFamily="34" charset="-120"/>
              </a:rPr>
              <a:t>@Tool</a:t>
            </a:r>
            <a:r>
              <a:rPr lang="en-US" sz="1600" dirty="0">
                <a:solidFill>
                  <a:srgbClr val="242424"/>
                </a:solidFill>
                <a:latin typeface="Consolas" pitchFamily="34" charset="0"/>
                <a:ea typeface="Consolas" pitchFamily="34" charset="-122"/>
                <a:cs typeface="Consolas" pitchFamily="34" charset="-120"/>
              </a:rPr>
              <a:t xml:space="preserve"> listProducts()</a:t>
            </a:r>
            <a:endParaRPr lang="en-US" sz="1600" dirty="0"/>
          </a:p>
        </p:txBody>
      </p:sp>
      <p:cxnSp>
        <p:nvCxnSpPr>
          <p:cNvPr id="9" name="Arrow"/>
          <p:cNvCxnSpPr/>
          <p:nvPr/>
        </p:nvCxnSpPr>
        <p:spPr>
          <a:xfrm>
            <a:off x="5957316" y="2560320"/>
            <a:ext cx="274320" cy="0"/>
          </a:xfrm>
          <a:prstGeom prst="straightConnector1">
            <a:avLst/>
          </a:prstGeom>
          <a:ln w="28575">
            <a:solidFill>
              <a:srgbClr val="5C2D91"/>
            </a:solidFill>
            <a:tailEnd type="triangle" w="med" len="med"/>
          </a:ln>
        </p:spPr>
      </p:cxnSp>
      <p:sp>
        <p:nvSpPr>
          <p:cNvPr id="10" name="SDK card"/>
          <p:cNvSpPr/>
          <p:nvPr/>
        </p:nvSpPr>
        <p:spPr>
          <a:xfrm>
            <a:off x="6505956" y="1325880"/>
            <a:ext cx="5134356" cy="246888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US"/>
          </a:p>
        </p:txBody>
      </p:sp>
      <p:sp>
        <p:nvSpPr>
          <p:cNvPr id="11" name="SDK card bar"/>
          <p:cNvSpPr/>
          <p:nvPr/>
        </p:nvSpPr>
        <p:spPr>
          <a:xfrm>
            <a:off x="6505956" y="1325880"/>
            <a:ext cx="82296" cy="2468880"/>
          </a:xfrm>
          <a:prstGeom prst="rect">
            <a:avLst/>
          </a:prstGeom>
          <a:solidFill>
            <a:srgbClr val="5C2D91"/>
          </a:solidFill>
          <a:ln w="12700">
            <a:solidFill>
              <a:srgbClr val="5C2D91"/>
            </a:solidFill>
            <a:prstDash val="solid"/>
          </a:ln>
        </p:spPr>
        <p:txBody>
          <a:bodyPr/>
          <a:lstStyle/>
          <a:p>
            <a:endParaRPr lang="en-US"/>
          </a:p>
        </p:txBody>
      </p:sp>
      <p:sp>
        <p:nvSpPr>
          <p:cNvPr id="12" name="SDK label"/>
          <p:cNvSpPr/>
          <p:nvPr/>
        </p:nvSpPr>
        <p:spPr>
          <a:xfrm>
            <a:off x="6871716" y="1645920"/>
            <a:ext cx="4494276" cy="228600"/>
          </a:xfrm>
          <a:prstGeom prst="rect">
            <a:avLst/>
          </a:prstGeom>
          <a:noFill/>
          <a:ln/>
        </p:spPr>
        <p:txBody>
          <a:bodyPr wrap="square" lIns="0" tIns="0" rIns="0" bIns="0" rtlCol="0" anchor="t"/>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WITH THE COPILOT SDK</a:t>
            </a:r>
            <a:endParaRPr lang="en-US" sz="1300" dirty="0"/>
          </a:p>
        </p:txBody>
      </p:sp>
      <p:sp>
        <p:nvSpPr>
          <p:cNvPr id="13" name="SDK heading"/>
          <p:cNvSpPr/>
          <p:nvPr/>
        </p:nvSpPr>
        <p:spPr>
          <a:xfrm>
            <a:off x="6871716" y="1965960"/>
            <a:ext cx="4494276" cy="411480"/>
          </a:xfrm>
          <a:prstGeom prst="rect">
            <a:avLst/>
          </a:prstGeom>
          <a:noFill/>
          <a:ln/>
        </p:spPr>
        <p:txBody>
          <a:bodyPr wrap="square" lIns="0" tIns="0" rIns="0" bIns="0" rtlCol="0" anchor="t"/>
          <a:lstStyle/>
          <a:p>
            <a:pPr marL="0" indent="0">
              <a:buNone/>
            </a:pPr>
            <a:r>
              <a:rPr lang="en-US" sz="2400" dirty="0">
                <a:solidFill>
                  <a:srgbClr val="242424"/>
                </a:solidFill>
                <a:latin typeface="Segoe UI Semibold" pitchFamily="34" charset="0"/>
                <a:ea typeface="Segoe UI Semibold" pitchFamily="34" charset="-122"/>
                <a:cs typeface="Segoe UI Semibold" pitchFamily="34" charset="-120"/>
              </a:rPr>
              <a:t>One goal, many steps</a:t>
            </a:r>
            <a:endParaRPr lang="en-US" sz="2400" dirty="0"/>
          </a:p>
        </p:txBody>
      </p:sp>
      <p:sp>
        <p:nvSpPr>
          <p:cNvPr id="14" name="SDK body"/>
          <p:cNvSpPr/>
          <p:nvPr/>
        </p:nvSpPr>
        <p:spPr>
          <a:xfrm>
            <a:off x="6871716" y="2468880"/>
            <a:ext cx="4494276" cy="594360"/>
          </a:xfrm>
          <a:prstGeom prst="rect">
            <a:avLst/>
          </a:prstGeom>
          <a:noFill/>
          <a:ln/>
        </p:spPr>
        <p:txBody>
          <a:bodyPr wrap="square" lIns="0" tIns="0" rIns="0" bIns="0" rtlCol="0" anchor="t"/>
          <a:lstStyle/>
          <a:p>
            <a:pPr marL="0" indent="0">
              <a:buNone/>
            </a:pPr>
            <a:r>
              <a:rPr lang="en-US" sz="1600" dirty="0">
                <a:solidFill>
                  <a:srgbClr val="242424"/>
                </a:solidFill>
                <a:latin typeface="Segoe UI" pitchFamily="34" charset="0"/>
                <a:ea typeface="Segoe UI" pitchFamily="34" charset="-122"/>
                <a:cs typeface="Segoe UI" pitchFamily="34" charset="-120"/>
              </a:rPr>
              <a:t>Copilot's agent runs in your app. It plans and calls your Java tools until the job is done.</a:t>
            </a:r>
            <a:endParaRPr lang="en-US" sz="1600" dirty="0"/>
          </a:p>
        </p:txBody>
      </p:sp>
      <p:sp>
        <p:nvSpPr>
          <p:cNvPr id="15" name="SDK code"/>
          <p:cNvSpPr/>
          <p:nvPr/>
        </p:nvSpPr>
        <p:spPr>
          <a:xfrm>
            <a:off x="6871716" y="3200400"/>
            <a:ext cx="4494276" cy="274320"/>
          </a:xfrm>
          <a:prstGeom prst="rect">
            <a:avLst/>
          </a:prstGeom>
          <a:noFill/>
          <a:ln/>
        </p:spPr>
        <p:txBody>
          <a:bodyPr wrap="square" lIns="0" tIns="0" rIns="0" bIns="0" rtlCol="0" anchor="t"/>
          <a:lstStyle/>
          <a:p>
            <a:pPr marL="0" indent="0">
              <a:buNone/>
            </a:pPr>
            <a:r>
              <a:rPr lang="en-US" sz="1600" dirty="0">
                <a:solidFill>
                  <a:srgbClr val="5C2D91"/>
                </a:solidFill>
                <a:latin typeface="Consolas" pitchFamily="34" charset="0"/>
                <a:ea typeface="Consolas" pitchFamily="34" charset="-122"/>
                <a:cs typeface="Consolas" pitchFamily="34" charset="-120"/>
              </a:rPr>
              <a:t>@CopilotTool</a:t>
            </a:r>
            <a:r>
              <a:rPr lang="en-US" sz="1600" dirty="0">
                <a:solidFill>
                  <a:srgbClr val="242424"/>
                </a:solidFill>
                <a:latin typeface="Consolas" pitchFamily="34" charset="0"/>
                <a:ea typeface="Consolas" pitchFamily="34" charset="-122"/>
                <a:cs typeface="Consolas" pitchFamily="34" charset="-120"/>
              </a:rPr>
              <a:t xml:space="preserve"> listProducts()</a:t>
            </a:r>
            <a:endParaRPr lang="en-US" sz="1600" dirty="0"/>
          </a:p>
        </p:txBody>
      </p:sp>
      <p:sp>
        <p:nvSpPr>
          <p:cNvPr id="16" name="Java card"/>
          <p:cNvSpPr/>
          <p:nvPr/>
        </p:nvSpPr>
        <p:spPr>
          <a:xfrm>
            <a:off x="548640" y="4114800"/>
            <a:ext cx="11091672" cy="1554480"/>
          </a:xfrm>
          <a:prstGeom prst="rect">
            <a:avLst/>
          </a:prstGeom>
          <a:solidFill>
            <a:srgbClr val="FFFFFF"/>
          </a:solidFill>
          <a:ln w="9525">
            <a:solidFill>
              <a:srgbClr val="DEDEDE"/>
            </a:solidFill>
            <a:prstDash val="solid"/>
          </a:ln>
          <a:effectLst>
            <a:outerShdw blurRad="101600" dist="25400" dir="5400000" algn="bl" rotWithShape="0">
              <a:srgbClr val="000000">
                <a:alpha val="12000"/>
              </a:srgbClr>
            </a:outerShdw>
          </a:effectLst>
        </p:spPr>
        <p:txBody>
          <a:bodyPr/>
          <a:lstStyle/>
          <a:p>
            <a:endParaRPr lang="en-US"/>
          </a:p>
        </p:txBody>
      </p:sp>
      <p:sp>
        <p:nvSpPr>
          <p:cNvPr id="17" name="Java card bar"/>
          <p:cNvSpPr/>
          <p:nvPr/>
        </p:nvSpPr>
        <p:spPr>
          <a:xfrm>
            <a:off x="548640" y="4114800"/>
            <a:ext cx="82296" cy="1554480"/>
          </a:xfrm>
          <a:prstGeom prst="rect">
            <a:avLst/>
          </a:prstGeom>
          <a:solidFill>
            <a:srgbClr val="5C2D91"/>
          </a:solidFill>
          <a:ln w="12700">
            <a:solidFill>
              <a:srgbClr val="5C2D91"/>
            </a:solidFill>
            <a:prstDash val="solid"/>
          </a:ln>
        </p:spPr>
        <p:txBody>
          <a:bodyPr/>
          <a:lstStyle/>
          <a:p>
            <a:endParaRPr lang="en-US"/>
          </a:p>
        </p:txBody>
      </p:sp>
      <p:sp>
        <p:nvSpPr>
          <p:cNvPr id="18" name="Maven label"/>
          <p:cNvSpPr/>
          <p:nvPr/>
        </p:nvSpPr>
        <p:spPr>
          <a:xfrm>
            <a:off x="914400" y="4434840"/>
            <a:ext cx="4494276" cy="228600"/>
          </a:xfrm>
          <a:prstGeom prst="rect">
            <a:avLst/>
          </a:prstGeom>
          <a:noFill/>
          <a:ln/>
        </p:spPr>
        <p:txBody>
          <a:bodyPr wrap="square" lIns="0" tIns="0" rIns="0" bIns="0" rtlCol="0" anchor="t"/>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MAVEN DEPENDENCY</a:t>
            </a:r>
            <a:endParaRPr lang="en-US" sz="1300" dirty="0"/>
          </a:p>
        </p:txBody>
      </p:sp>
      <p:sp>
        <p:nvSpPr>
          <p:cNvPr id="19" name="Maven artifact"/>
          <p:cNvSpPr/>
          <p:nvPr/>
        </p:nvSpPr>
        <p:spPr>
          <a:xfrm>
            <a:off x="914400" y="4754880"/>
            <a:ext cx="4494276" cy="274320"/>
          </a:xfrm>
          <a:prstGeom prst="rect">
            <a:avLst/>
          </a:prstGeom>
          <a:noFill/>
          <a:ln/>
        </p:spPr>
        <p:txBody>
          <a:bodyPr wrap="square" lIns="0" tIns="0" rIns="0" bIns="0" rtlCol="0" anchor="t"/>
          <a:lstStyle/>
          <a:p>
            <a:pPr marL="0" indent="0">
              <a:buNone/>
            </a:pPr>
            <a:r>
              <a:rPr lang="en-US" sz="1600" dirty="0">
                <a:solidFill>
                  <a:srgbClr val="242424"/>
                </a:solidFill>
                <a:latin typeface="Consolas" pitchFamily="34" charset="0"/>
                <a:ea typeface="Consolas" pitchFamily="34" charset="-122"/>
                <a:cs typeface="Consolas" pitchFamily="34" charset="-120"/>
              </a:rPr>
              <a:t>com.github:copilot-sdk-java</a:t>
            </a:r>
            <a:endParaRPr lang="en-US" sz="1600" dirty="0"/>
          </a:p>
        </p:txBody>
      </p:sp>
      <p:sp>
        <p:nvSpPr>
          <p:cNvPr id="20" name="Works with label"/>
          <p:cNvSpPr/>
          <p:nvPr/>
        </p:nvSpPr>
        <p:spPr>
          <a:xfrm>
            <a:off x="6871716" y="4434840"/>
            <a:ext cx="4494276" cy="228600"/>
          </a:xfrm>
          <a:prstGeom prst="rect">
            <a:avLst/>
          </a:prstGeom>
          <a:noFill/>
          <a:ln/>
        </p:spPr>
        <p:txBody>
          <a:bodyPr wrap="square" lIns="0" tIns="0" rIns="0" bIns="0" rtlCol="0" anchor="t"/>
          <a:lstStyle/>
          <a:p>
            <a:pPr marL="0" indent="0">
              <a:buNone/>
            </a:pPr>
            <a:r>
              <a:rPr lang="en-US" sz="1300" kern="0" spc="300" dirty="0">
                <a:solidFill>
                  <a:srgbClr val="5C2D91"/>
                </a:solidFill>
                <a:latin typeface="Segoe UI Semibold" pitchFamily="34" charset="0"/>
                <a:ea typeface="Segoe UI Semibold" pitchFamily="34" charset="-122"/>
                <a:cs typeface="Segoe UI Semibold" pitchFamily="34" charset="-120"/>
              </a:rPr>
              <a:t>WORKS WITH</a:t>
            </a:r>
            <a:endParaRPr lang="en-US" sz="1300" dirty="0"/>
          </a:p>
        </p:txBody>
      </p:sp>
      <p:sp>
        <p:nvSpPr>
          <p:cNvPr id="21" name="Works with text"/>
          <p:cNvSpPr/>
          <p:nvPr/>
        </p:nvSpPr>
        <p:spPr>
          <a:xfrm>
            <a:off x="6871716" y="4754880"/>
            <a:ext cx="4494276" cy="594360"/>
          </a:xfrm>
          <a:prstGeom prst="rect">
            <a:avLst/>
          </a:prstGeom>
          <a:noFill/>
          <a:ln/>
        </p:spPr>
        <p:txBody>
          <a:bodyPr wrap="square" lIns="0" tIns="0" rIns="0" bIns="0" rtlCol="0" anchor="t"/>
          <a:lstStyle/>
          <a:p>
            <a:pPr marL="0" indent="0">
              <a:buNone/>
            </a:pPr>
            <a:r>
              <a:rPr lang="en-US" sz="1600" dirty="0">
                <a:solidFill>
                  <a:srgbClr val="242424"/>
                </a:solidFill>
                <a:latin typeface="Segoe UI" pitchFamily="34" charset="0"/>
                <a:ea typeface="Segoe UI" pitchFamily="34" charset="-122"/>
                <a:cs typeface="Segoe UI" pitchFamily="34" charset="-120"/>
              </a:rPr>
              <a:t>A GitHub Copilot subscription, or your own Foundry model with managed identity. No keys.</a:t>
            </a:r>
            <a:endParaRPr lang="en-US" sz="1600" dirty="0"/>
          </a:p>
        </p:txBody>
      </p:sp>
      <p:sp>
        <p:nvSpPr>
          <p:cNvPr id="22" name="Footnote"/>
          <p:cNvSpPr/>
          <p:nvPr/>
        </p:nvSpPr>
        <p:spPr>
          <a:xfrm>
            <a:off x="548640" y="5943600"/>
            <a:ext cx="11091672" cy="274320"/>
          </a:xfrm>
          <a:prstGeom prst="rect">
            <a:avLst/>
          </a:prstGeom>
          <a:noFill/>
          <a:ln/>
        </p:spPr>
        <p:txBody>
          <a:bodyPr wrap="square" lIns="0" tIns="0" rIns="0" bIns="0" rtlCol="0" anchor="t"/>
          <a:lstStyle/>
          <a:p>
            <a:pPr marL="0" indent="0">
              <a:buNone/>
            </a:pPr>
            <a:r>
              <a:rPr lang="en-US" sz="1200" dirty="0">
                <a:solidFill>
                  <a:srgbClr val="5C5C5C"/>
                </a:solidFill>
                <a:latin typeface="Segoe UI" pitchFamily="34" charset="0"/>
                <a:ea typeface="Segoe UI" pitchFamily="34" charset="-122"/>
                <a:cs typeface="Segoe UI" pitchFamily="34" charset="-120"/>
              </a:rPr>
              <a:t>See it working in the step-3-copilot-sdk folder. The SDK's Java releases are still labeled preview. Learn more at github.com/github/copilot-sdk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1265</Words>
  <Application>Microsoft Office PowerPoint</Application>
  <PresentationFormat>Widescreen</PresentationFormat>
  <Paragraphs>141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Trail Store: from your laptop to an AI you can see inside</dc:title>
  <dc:subject>45-minute workshop</dc:subject>
  <dc:creator>Rory Preddy</dc:creator>
  <cp:lastModifiedBy>Rory Preddy</cp:lastModifiedBy>
  <cp:revision>1</cp:revision>
  <dcterms:created xsi:type="dcterms:W3CDTF">2026-10-22T10:51:02Z</dcterms:created>
  <dcterms:modified xsi:type="dcterms:W3CDTF">2026-10-22T10:56:59Z</dcterms:modified>
</cp:coreProperties>
</file>