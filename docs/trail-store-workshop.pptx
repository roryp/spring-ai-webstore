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8" r:id="rId9"/>
    <p:sldId id="269" r:id="rId10"/>
    <p:sldId id="263" r:id="rId11"/>
    <p:sldId id="264" r:id="rId12"/>
    <p:sldId id="265" r:id="rId13"/>
    <p:sldId id="270" r:id="rId14"/>
    <p:sldId id="266" r:id="rId15"/>
    <p:sldId id="267"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Guardrails keep the cost down: 300 characters in, 300 tokens out, and at most 30 requests a minute. Time: 12 minutes for step 3, including the next three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 The whole room shares one model. If someone sees "could not answer right now", ask them to wait a few seconds and try again.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for this slide and the next, and nothing for the room to do. In step 3, Spring AI sends one question to the model, and the model can ask for one Java method. The GitHub Copilot SDK goes further: it runs Copilot's agent inside your own app. You give it a goal, and it plans and calls your Java tools, step by step, until the job is done. You still write the tools as Java methods, with @CopilotTool instead of @Tool. You add two Maven dependencies: copilot-sdk-java, and copilot-sdk-java-runtime, which brings Copilot's agent runtime. It works with your own model in Microsoft Foundry, where the app signs in with its managed identity and needs no keys, as in step 3. It also works with a GitHub Copilot subscription, which needs a GitHub token instead. The bonus folder, step-3-copilot-sdk, builds this same assistant with the SDK: show Assistant.java and its live app if you have time. Copilot's agent can run commands and edit files, so the app switches all of that off and allows only the one tool. Be clear that the SDK's Java releases are still labeled preview, and @CopilotTool is still marked experimental.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3590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It's the same question as before, with the same two model calls and one tool call. What's new is Copilot's agent, which runs next to the app, in the same container. For each question, the app opens a new session and hands the question to the agent. From there, the agent does what Spring AI did: it calls the model, and when the model asks for list_products, the SDK runs our Java method. Then the agent calls the model again and hands back the answer, and the app deletes the session, so no questions stay on disk. The agent may call that one tool and nothing else: Copilot's tools for files and commands are switched off.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doesn't say where traces go. On Azure, Container Apps tells it, with the standard OTEL_EXPORTER_OTLP_* settings. On your laptop, nothing is sent. The traces keep timings, the model name, token counts and tool names, but not the questions, and not the answers.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Your Java method takes 1 ms: the model is where the time, and the cost, goes.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On average, a question uses about 540 tokens in and 50 tokens out, at $0.10 per million tokens in and $0.50 per million out. That's about 8 cents for 1,000 questions. The apps scale to zero when they're idle, so they cost nothing while nobody uses them. The main fixed cost is the container registry: about $5 a month for each step you deploy. The model's per-minute limit also caps the worst case: it accepts at most 30 requests and 30,000 tokens a minute, so it costs at most about $0.90 an hour. These are Azure retail prices for Sweden Central, checked on 22 October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Here's the whole journey in one picture. Step 1 is free. Once you deploy, the container registry is most of the bill: about $5 a month for each step. Adding AI costs about $1.25 more: a bigger app, plus 71 cents of tokens for 9,000 questions. Step 4's Log Analytics stays in the free 5 GB. The tokens: 9,000 questions at about 540 tokens in and 50 out is 5.3 million tokens, at $0.10 per million in and $0.50 per million out. All prices are Azure retail prices for Sweden Central.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a:p>
            <a:r>
              <a:rPr lang="en-US" dirty="0"/>
              <a:t>Step 1: there are six products, and the Summit Waterproof Jacket has 0 in stock in Catalog.java.</a:t>
            </a:r>
          </a:p>
          <a:p>
            <a:r>
              <a:rPr lang="en-US" dirty="0"/>
              <a:t>Step 2: minReplicas: 0 in app.bicep lets the app scale to zero. The app pulls its image with its managed identity, which has the AcrPull role on the registry.</a:t>
            </a:r>
          </a:p>
          <a:p>
            <a:r>
              <a:rPr lang="en-US" dirty="0"/>
              <a:t>Step 3: the app's managed identity has the Foundry User role. There's no API key: disableLocalAuth: true switches keys off.</a:t>
            </a:r>
          </a:p>
          <a:p>
            <a:r>
              <a:rPr lang="en-US" dirty="0"/>
              <a:t>Step 4: two model calls. In the first, the model asks for listProducts. In the second, it writes the answer from the tool's result. Off-topic questions, like the poem, usually need only one. A question costs about $0.00008, or about 8 cents for 1,000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 The code, the diagrams and these slides are all in the repo.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rcRect l="2700" t="579" r="2150" b="5499"/>
          <a:stretch>
            <a:fillRect/>
          </a:stretch>
        </p:blipFill>
        <p:spPr>
          <a:xfrm>
            <a:off x="453839" y="1846262"/>
            <a:ext cx="11275348" cy="38453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xml:space="preserve">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 xml:space="preserve">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rcRect l="2050" t="446" r="20750" b="6250"/>
          <a:stretch>
            <a:fillRect/>
          </a:stretch>
        </p:blipFill>
        <p:spPr>
          <a:xfrm>
            <a:off x="933572" y="1036038"/>
            <a:ext cx="10321809" cy="4191563"/>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 xml:space="preserve">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rcRect l="3000" t="0" r="3550" b="16633"/>
          <a:stretch>
            <a:fillRect/>
          </a:stretch>
        </p:blipFill>
        <p:spPr>
          <a:xfrm>
            <a:off x="452086" y="1285627"/>
            <a:ext cx="11278746" cy="49604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711304"/>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4104496"/>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4104496"/>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4104496"/>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744576"/>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744576"/>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744576"/>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5384656"/>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5384656"/>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5384656"/>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Copilot SDK">
    <p:bg>
      <p:bgPr>
        <a:solidFill>
          <a:srgbClr val="F7F4EF"/>
        </a:solidFill>
        <a:effectLst/>
      </p:bgPr>
    </p:bg>
    <p:spTree>
      <p:nvGrpSpPr>
        <p:cNvPr id="1" name=""/>
        <p:cNvGrpSpPr/>
        <p:nvPr/>
      </p:nvGrpSpPr>
      <p:grpSpPr>
        <a:xfrm>
          <a:off x="0" y="0"/>
          <a:ext cx="0" cy="0"/>
          <a:chOff x="0" y="0"/>
          <a:chExt cx="0" cy="0"/>
        </a:xfrm>
      </p:grpSpPr>
      <p:sp>
        <p:nvSpPr>
          <p:cNvPr id="2" name="Title"/>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Going further: the GitHub Copilot SDK</a:t>
            </a:r>
            <a:endParaRPr lang="en-US" sz="3200" dirty="0"/>
          </a:p>
        </p:txBody>
      </p:sp>
      <p:sp>
        <p:nvSpPr>
          <p:cNvPr id="3" name="Saw card"/>
          <p:cNvSpPr/>
          <p:nvPr/>
        </p:nvSpPr>
        <p:spPr>
          <a:xfrm>
            <a:off x="548640" y="1325880"/>
            <a:ext cx="5134356" cy="18288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aw card bar"/>
          <p:cNvSpPr/>
          <p:nvPr/>
        </p:nvSpPr>
        <p:spPr>
          <a:xfrm>
            <a:off x="548640" y="1325880"/>
            <a:ext cx="82296" cy="1828800"/>
          </a:xfrm>
          <a:prstGeom prst="rect">
            <a:avLst/>
          </a:prstGeom>
          <a:solidFill>
            <a:srgbClr val="5C2D91"/>
          </a:solidFill>
          <a:ln w="12700">
            <a:solidFill>
              <a:srgbClr val="5C2D91"/>
            </a:solidFill>
            <a:prstDash val="solid"/>
          </a:ln>
        </p:spPr>
        <p:txBody>
          <a:bodyPr/>
          <a:lstStyle/>
          <a:p>
            <a:endParaRPr lang="en-US"/>
          </a:p>
        </p:txBody>
      </p:sp>
      <p:sp>
        <p:nvSpPr>
          <p:cNvPr id="5" name="Saw label"/>
          <p:cNvSpPr/>
          <p:nvPr/>
        </p:nvSpPr>
        <p:spPr>
          <a:xfrm>
            <a:off x="914400"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WHAT YOU JUST SAW</a:t>
            </a:r>
            <a:endParaRPr lang="en-US" sz="1300" dirty="0"/>
          </a:p>
        </p:txBody>
      </p:sp>
      <p:sp>
        <p:nvSpPr>
          <p:cNvPr id="6" name="Saw heading"/>
          <p:cNvSpPr/>
          <p:nvPr/>
        </p:nvSpPr>
        <p:spPr>
          <a:xfrm>
            <a:off x="914400"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question, one tool</a:t>
            </a:r>
            <a:endParaRPr lang="en-US" sz="2400" dirty="0"/>
          </a:p>
        </p:txBody>
      </p:sp>
      <p:sp>
        <p:nvSpPr>
          <p:cNvPr id="8" name="Saw code"/>
          <p:cNvSpPr/>
          <p:nvPr/>
        </p:nvSpPr>
        <p:spPr>
          <a:xfrm>
            <a:off x="914400" y="256032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cxnSp>
        <p:nvCxnSpPr>
          <p:cNvPr id="9" name="Arrow"/>
          <p:cNvCxnSpPr/>
          <p:nvPr/>
        </p:nvCxnSpPr>
        <p:spPr>
          <a:xfrm>
            <a:off x="5957316" y="2240280"/>
            <a:ext cx="274320" cy="0"/>
          </a:xfrm>
          <a:prstGeom prst="straightConnector1">
            <a:avLst/>
          </a:prstGeom>
          <a:ln w="28575">
            <a:solidFill>
              <a:srgbClr val="5C2D91"/>
            </a:solidFill>
            <a:tailEnd type="triangle" w="med" len="med"/>
          </a:ln>
        </p:spPr>
      </p:cxnSp>
      <p:sp>
        <p:nvSpPr>
          <p:cNvPr id="10" name="SDK card"/>
          <p:cNvSpPr/>
          <p:nvPr/>
        </p:nvSpPr>
        <p:spPr>
          <a:xfrm>
            <a:off x="6505956" y="1325880"/>
            <a:ext cx="5134356" cy="18288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DK card bar"/>
          <p:cNvSpPr/>
          <p:nvPr/>
        </p:nvSpPr>
        <p:spPr>
          <a:xfrm>
            <a:off x="6505956" y="1325880"/>
            <a:ext cx="82296" cy="1828800"/>
          </a:xfrm>
          <a:prstGeom prst="rect">
            <a:avLst/>
          </a:prstGeom>
          <a:solidFill>
            <a:srgbClr val="5C2D91"/>
          </a:solidFill>
          <a:ln w="12700">
            <a:solidFill>
              <a:srgbClr val="5C2D91"/>
            </a:solidFill>
            <a:prstDash val="solid"/>
          </a:ln>
        </p:spPr>
        <p:txBody>
          <a:bodyPr/>
          <a:lstStyle/>
          <a:p>
            <a:endParaRPr lang="en-US"/>
          </a:p>
        </p:txBody>
      </p:sp>
      <p:sp>
        <p:nvSpPr>
          <p:cNvPr id="12" name="SDK label"/>
          <p:cNvSpPr/>
          <p:nvPr/>
        </p:nvSpPr>
        <p:spPr>
          <a:xfrm>
            <a:off x="6871716"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WITH THE COPILOT SDK</a:t>
            </a:r>
            <a:endParaRPr lang="en-US" sz="1300" dirty="0"/>
          </a:p>
        </p:txBody>
      </p:sp>
      <p:sp>
        <p:nvSpPr>
          <p:cNvPr id="13" name="SDK heading"/>
          <p:cNvSpPr/>
          <p:nvPr/>
        </p:nvSpPr>
        <p:spPr>
          <a:xfrm>
            <a:off x="6871716"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goal, many steps</a:t>
            </a:r>
            <a:endParaRPr lang="en-US" sz="2400" dirty="0"/>
          </a:p>
        </p:txBody>
      </p:sp>
      <p:sp>
        <p:nvSpPr>
          <p:cNvPr id="15" name="SDK code"/>
          <p:cNvSpPr/>
          <p:nvPr/>
        </p:nvSpPr>
        <p:spPr>
          <a:xfrm>
            <a:off x="6871716" y="256032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@CopilotTool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sp>
        <p:nvSpPr>
          <p:cNvPr id="16" name="Java card"/>
          <p:cNvSpPr/>
          <p:nvPr/>
        </p:nvSpPr>
        <p:spPr>
          <a:xfrm>
            <a:off x="548640" y="3474720"/>
            <a:ext cx="11091672" cy="1554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7" name="Java card bar"/>
          <p:cNvSpPr/>
          <p:nvPr/>
        </p:nvSpPr>
        <p:spPr>
          <a:xfrm>
            <a:off x="548640" y="3474720"/>
            <a:ext cx="82296" cy="1554480"/>
          </a:xfrm>
          <a:prstGeom prst="rect">
            <a:avLst/>
          </a:prstGeom>
          <a:solidFill>
            <a:srgbClr val="5C2D91"/>
          </a:solidFill>
          <a:ln w="12700">
            <a:solidFill>
              <a:srgbClr val="5C2D91"/>
            </a:solidFill>
            <a:prstDash val="solid"/>
          </a:ln>
        </p:spPr>
        <p:txBody>
          <a:bodyPr/>
          <a:lstStyle/>
          <a:p>
            <a:endParaRPr lang="en-US"/>
          </a:p>
        </p:txBody>
      </p:sp>
      <p:sp>
        <p:nvSpPr>
          <p:cNvPr id="18" name="Maven label"/>
          <p:cNvSpPr/>
          <p:nvPr/>
        </p:nvSpPr>
        <p:spPr>
          <a:xfrm>
            <a:off x="914400" y="379476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MAVEN DEPENDENCIES</a:t>
            </a:r>
            <a:endParaRPr lang="en-US" sz="1300" dirty="0"/>
          </a:p>
        </p:txBody>
      </p:sp>
      <p:sp>
        <p:nvSpPr>
          <p:cNvPr id="19" name="Maven artifact"/>
          <p:cNvSpPr/>
          <p:nvPr/>
        </p:nvSpPr>
        <p:spPr>
          <a:xfrm>
            <a:off x="914400" y="411480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Consolas" pitchFamily="34" charset="0"/>
                <a:ea typeface="Consolas" pitchFamily="34" charset="-122"/>
                <a:cs typeface="Consolas" pitchFamily="34" charset="-120"/>
              </a:rPr>
              <a:t>com.github:copilot-sdk-java</a:t>
            </a:r>
          </a:p>
          <a:p>
            <a:pPr marL="0" indent="0">
              <a:buNone/>
            </a:pPr>
            <a:r>
              <a:rPr lang="en-US" sz="1600" dirty="0">
                <a:solidFill>
                  <a:srgbClr val="242424"/>
                </a:solidFill>
                <a:latin typeface="Consolas" pitchFamily="34" charset="0"/>
                <a:ea typeface="Consolas" pitchFamily="34" charset="-122"/>
                <a:cs typeface="Consolas" pitchFamily="34" charset="-120"/>
              </a:rPr>
              <a:t>com.github:copilot-sdk-java-runtime</a:t>
            </a:r>
            <a:endParaRPr lang="en-US" sz="1600" dirty="0"/>
          </a:p>
        </p:txBody>
      </p:sp>
      <p:sp>
        <p:nvSpPr>
          <p:cNvPr id="20" name="Works with label"/>
          <p:cNvSpPr/>
          <p:nvPr/>
        </p:nvSpPr>
        <p:spPr>
          <a:xfrm>
            <a:off x="6871716" y="379476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WORKS WITH</a:t>
            </a:r>
            <a:endParaRPr lang="en-US" sz="1300" dirty="0"/>
          </a:p>
        </p:txBody>
      </p:sp>
      <p:sp>
        <p:nvSpPr>
          <p:cNvPr id="21" name="Works with text"/>
          <p:cNvSpPr/>
          <p:nvPr/>
        </p:nvSpPr>
        <p:spPr>
          <a:xfrm>
            <a:off x="6871716" y="411480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Your own Foundry model, no keys</a:t>
            </a:r>
          </a:p>
          <a:p>
            <a:pPr marL="0" indent="0">
              <a:buNone/>
            </a:pPr>
            <a:r>
              <a:rPr lang="en-US" sz="1600" dirty="0">
                <a:solidFill>
                  <a:srgbClr val="242424"/>
                </a:solidFill>
                <a:latin typeface="Segoe UI" pitchFamily="34" charset="0"/>
                <a:ea typeface="Segoe UI" pitchFamily="34" charset="-122"/>
                <a:cs typeface="Segoe UI" pitchFamily="34" charset="-120"/>
              </a:rPr>
              <a:t>A GitHub Copilot subscription</a:t>
            </a:r>
            <a:endParaRPr lang="en-US" sz="1600" dirty="0"/>
          </a:p>
        </p:txBody>
      </p:sp>
      <p:sp>
        <p:nvSpPr>
          <p:cNvPr id="22" name="Footnote"/>
          <p:cNvSpPr/>
          <p:nvPr/>
        </p:nvSpPr>
        <p:spPr>
          <a:xfrm>
            <a:off x="548640" y="5303520"/>
            <a:ext cx="11091672" cy="27432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step-3-copilot-sdk   ·   github.com/github/copilot-sdk</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opilot SDK question">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the Copilot SDK answers a question</a:t>
            </a:r>
            <a:endParaRPr lang="en-US" sz="3200" dirty="0"/>
          </a:p>
        </p:txBody>
      </p:sp>
      <p:pic>
        <p:nvPicPr>
          <p:cNvPr id="3" name="Image 0" descr="Ten numbered messages between you, the app, Copilot's agent, the listProducts tool and the model: the app hands the question to Copilot's agent, which calls the model twice and has the SDK run the Java tool once, then hands the answer back"/>
          <p:cNvPicPr>
            <a:picLocks noChangeAspect="1"/>
          </p:cNvPicPr>
          <p:nvPr/>
        </p:nvPicPr>
        <p:blipFill>
          <a:blip r:embed="rId3"/>
          <a:srcRect l="1600" t="0" r="1650" b="15108"/>
          <a:stretch>
            <a:fillRect/>
          </a:stretch>
        </p:blipFill>
        <p:spPr>
          <a:xfrm>
            <a:off x="455433" y="1360160"/>
            <a:ext cx="11272261" cy="481182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rcRect l="2050" t="327" r="2100" b="40033"/>
          <a:stretch>
            <a:fillRect/>
          </a:stretch>
        </p:blipFill>
        <p:spPr>
          <a:xfrm>
            <a:off x="454543" y="2055587"/>
            <a:ext cx="11273985" cy="2146586"/>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rcRect l="2100" t="755" r="1500" b="6495"/>
          <a:stretch>
            <a:fillRect/>
          </a:stretch>
        </p:blipFill>
        <p:spPr>
          <a:xfrm>
            <a:off x="455089" y="2042542"/>
            <a:ext cx="11272928" cy="35900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728216"/>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596896"/>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728216"/>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596896"/>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4059936"/>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928616"/>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4059936"/>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928616"/>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What each step costs</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One month with 10 busy hours and 9,000 questions</a:t>
            </a:r>
            <a:endParaRPr lang="en-US" sz="1600" dirty="0"/>
          </a:p>
        </p:txBody>
      </p:sp>
      <p:pic>
        <p:nvPicPr>
          <p:cNvPr id="4" name="Image 0" descr="Monthly cost of each step: step 1 $0, step 2 $5.54, steps 3 and 4 $6.79 each. The container registry is $5 of each deployed step, and tokens add $0.71."/>
          <p:cNvPicPr>
            <a:picLocks noChangeAspect="1"/>
          </p:cNvPicPr>
          <p:nvPr/>
        </p:nvPicPr>
        <p:blipFill>
          <a:blip r:embed="rId3"/>
          <a:srcRect l="2755" t="5535" r="1818" b="7673"/>
          <a:stretch>
            <a:fillRect/>
          </a:stretch>
        </p:blipFill>
        <p:spPr>
          <a:xfrm>
            <a:off x="444309" y="1679026"/>
            <a:ext cx="11293813" cy="449926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Six</a:t>
            </a:r>
          </a:p>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The Summit Waterproof Jacket</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Consolas" pitchFamily="34" charset="0"/>
                <a:ea typeface="Consolas" pitchFamily="34" charset="-122"/>
                <a:cs typeface="Consolas" pitchFamily="34" charset="-120"/>
              </a:rPr>
              <a:t>minReplicas: 0</a:t>
            </a:r>
          </a:p>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Managed identity with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Managed identity with the Foundry User role</a:t>
            </a:r>
          </a:p>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 xml:space="preserve">No: </a:t>
            </a:r>
            <a:r>
              <a:rPr lang="en-US" sz="1500" dirty="0">
                <a:solidFill>
                  <a:srgbClr val="242424"/>
                </a:solidFill>
                <a:latin typeface="Consolas" pitchFamily="34" charset="0"/>
                <a:ea typeface="Consolas" pitchFamily="34" charset="-122"/>
                <a:cs typeface="Consolas" pitchFamily="34" charset="-120"/>
              </a:rPr>
              <a:t>disableLocalAuth: true</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lnSpc>
                <a:spcPts val="1800"/>
              </a:lnSpc>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Two</a:t>
            </a:r>
          </a:p>
          <a:p>
            <a:pPr marL="0" indent="0">
              <a:lnSpc>
                <a:spcPts val="1800"/>
              </a:lnSpc>
              <a:buNone/>
            </a:pPr>
            <a:r>
              <a:rPr lang="en-US" sz="1500" dirty="0">
                <a:solidFill>
                  <a:srgbClr val="242424"/>
                </a:solidFill>
                <a:latin typeface="Segoe UI" pitchFamily="34" charset="0"/>
                <a:ea typeface="Segoe UI" pitchFamily="34" charset="-122"/>
                <a:cs typeface="Segoe UI" pitchFamily="34" charset="-120"/>
              </a:rPr>
              <a:t>About $0.00008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xml:space="preserve">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1834</Words>
  <Application>Microsoft Office PowerPoint</Application>
  <PresentationFormat>Widescreen</PresentationFormat>
  <Paragraphs>164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2026-10-30T06:27:50Z</dcterms:modified>
</cp:coreProperties>
</file>