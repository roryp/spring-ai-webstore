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8" r:id="rId19"/>
    <p:sldId id="269" r:id="rId20"/>
    <p:sldId id="263" r:id="rId9"/>
    <p:sldId id="264" r:id="rId10"/>
    <p:sldId id="265" r:id="rId11"/>
    <p:sldId id="270" r:id="rId2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196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071151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45 minutes we take one small Java web store from a laptop to Azure, add an AI assistant, and then look inside every answer. You only need a browser.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store, four steps. Each step is a folder in the repo, and each adds one idea: run it, ship it, add AI, and see inside it. The six products stay the same all the way through.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in your browser: read the code on GitHub and try the live apps. For each step: look at the diagram, read the code, try the app, then answer the Find questions. We check the answers at the end.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the browser asks for the page, the controller gets six products from the catalog and fills in the page. It works, but only on my laptop. Nobody else can use it, and I start it by hand. Time: 7 minutes.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Java code didn't change. We added a Dockerfile to pack the app, azure.yaml to name it, and Bicep to describe the Azure resources. One command, azd up, creates all of this in about 5 minutes. The app pulls its image with its managed identity, so there's no password, and it scales to zero when nobody uses it. Time: 10 minutes.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two calls to the model, and one call to our own Java code in between. The model can't see our catalog, so we give it a tool: one method with @Tool. There are no API keys: they're switched off in Foundry, and the app signs in with its managed identity. Time: 12 minutes for step 3, including the next three slides.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find the two files and answer the questions, then ask the store one question. The Summit jacket is out of stock, and the assistant says so, then suggests jackets that are in stock: real facts, not guesses. The poem question shows it stays on topic.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Container Apps tells the app where to send traces. Time: 8 minutes for step 4, including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trace from step 4. Two model calls and one tool call. Here are the tokens, and here's the cost: less than a hundredth of a cent. The traces keep timings and token counts, not the questions or the answers.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the cheap part: a question costs less than a hundredth of a cent. The main fixed cost is the container registry. The model's per-minute limit also caps the worst case.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together. The details are in docs/workshop.md.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ship it, add AI, see inside it. To try it yourself, run azd up in any step folder, and azd down --purge when you're done.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for this slide and the next, and nothing for the room to do. In step 3, Spring AI sends one question to the model, and the model can ask for one Java method. The GitHub Copilot SDK goes further: it runs Copilot's agent inside your own app. You give it a goal, and it plans and calls your Java tools, step by step, until the job is done. You still write the tools as Java methods, with @CopilotTool instead of @Tool. You add two Maven dependencies: copilot-sdk-java, and copilot-sdk-java-runtime, which brings Copilot's agent runtime. It works with your own model in Microsoft Foundry, where the app signs in with its managed identity and needs no keys, as in step 3. It also works with a GitHub Copilot subscription, which needs a GitHub token instead. The bonus folder, step-3-copilot-sdk, builds this same assistant with the SDK: show Assistant.java and its live app if you have time. Copilot's agent can run commands and edit files, so the app switches all of that off and allows only the one tool. Be clear that the SDK's Java releases are still labeled preview, and @CopilotTool is still marked experimental.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7135902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It's the same question as before, with the same two model calls and one tool call. What's new is Copilot's agent, which runs next to the app, in the same container. The app opens a session and hands the agent the question. From there, the agent does what Spring AI did: it calls the model, and when the model asks for list_products, the SDK runs our Java method. Then the agent calls the model again and hands back the answer, and the app deletes the session, so no questions stay on disk. The agent may call that one tool and nothing else: Copilot's tools for files and commands are switched off.</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Here's the whole journey in one picture. Step 1 is free. Once you deploy, the container registry is most of the bill: about $5 a month for each step. Adding AI costs about $1.25 more: a bigger app, plus 71 cents of tokens for 9,000 questions. Step 4's Log Analytics stays in the free 5 GB.</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A28"/>
        </a:solidFill>
        <a:effectLst/>
      </p:bgPr>
    </p:bg>
    <p:spTree>
      <p:nvGrpSpPr>
        <p:cNvPr id="1" name=""/>
        <p:cNvGrpSpPr/>
        <p:nvPr/>
      </p:nvGrpSpPr>
      <p:grpSpPr>
        <a:xfrm>
          <a:off x="0" y="0"/>
          <a:ext cx="0" cy="0"/>
          <a:chOff x="0" y="0"/>
          <a:chExt cx="0" cy="0"/>
        </a:xfrm>
      </p:grpSpPr>
      <p:sp>
        <p:nvSpPr>
          <p:cNvPr id="2" name="Text 0"/>
          <p:cNvSpPr/>
          <p:nvPr/>
        </p:nvSpPr>
        <p:spPr>
          <a:xfrm>
            <a:off x="685800" y="1828800"/>
            <a:ext cx="5669280" cy="320040"/>
          </a:xfrm>
          <a:prstGeom prst="rect">
            <a:avLst/>
          </a:prstGeom>
          <a:noFill/>
          <a:ln/>
        </p:spPr>
        <p:txBody>
          <a:bodyPr wrap="square" lIns="0" tIns="0" rIns="0" bIns="0" rtlCol="0" anchor="ctr"/>
          <a:lstStyle/>
          <a:p>
            <a:pPr marL="0" indent="0">
              <a:buNone/>
            </a:pPr>
            <a:r>
              <a:rPr lang="en-US" sz="1400" kern="0" spc="400" dirty="0">
                <a:solidFill>
                  <a:srgbClr val="FD8EA1"/>
                </a:solidFill>
                <a:latin typeface="Segoe UI Semibold" pitchFamily="34" charset="0"/>
                <a:ea typeface="Segoe UI Semibold" pitchFamily="34" charset="-122"/>
                <a:cs typeface="Segoe UI Semibold" pitchFamily="34" charset="-120"/>
              </a:rPr>
              <a:t>45-MINUTE WORKSHOP</a:t>
            </a:r>
            <a:endParaRPr lang="en-US" sz="1400" dirty="0"/>
          </a:p>
        </p:txBody>
      </p:sp>
      <p:sp>
        <p:nvSpPr>
          <p:cNvPr id="3" name="Text 1"/>
          <p:cNvSpPr/>
          <p:nvPr/>
        </p:nvSpPr>
        <p:spPr>
          <a:xfrm>
            <a:off x="685800" y="2194560"/>
            <a:ext cx="5669280" cy="960120"/>
          </a:xfrm>
          <a:prstGeom prst="rect">
            <a:avLst/>
          </a:prstGeom>
          <a:noFill/>
          <a:ln/>
        </p:spPr>
        <p:txBody>
          <a:bodyPr wrap="square" lIns="0" tIns="0" rIns="0" bIns="0" rtlCol="0" anchor="ctr"/>
          <a:lstStyle/>
          <a:p>
            <a:pPr marL="0" indent="0">
              <a:buNone/>
            </a:pPr>
            <a:r>
              <a:rPr lang="en-US" sz="6000" dirty="0">
                <a:solidFill>
                  <a:srgbClr val="F7F4EF"/>
                </a:solidFill>
                <a:latin typeface="Segoe UI Semibold" pitchFamily="34" charset="0"/>
                <a:ea typeface="Segoe UI Semibold" pitchFamily="34" charset="-122"/>
                <a:cs typeface="Segoe UI Semibold" pitchFamily="34" charset="-120"/>
              </a:rPr>
              <a:t>Trail Store</a:t>
            </a:r>
            <a:endParaRPr lang="en-US" sz="6000" dirty="0"/>
          </a:p>
        </p:txBody>
      </p:sp>
      <p:sp>
        <p:nvSpPr>
          <p:cNvPr id="4" name="Text 2"/>
          <p:cNvSpPr/>
          <p:nvPr/>
        </p:nvSpPr>
        <p:spPr>
          <a:xfrm>
            <a:off x="685800" y="3291840"/>
            <a:ext cx="5486400" cy="914400"/>
          </a:xfrm>
          <a:prstGeom prst="rect">
            <a:avLst/>
          </a:prstGeom>
          <a:noFill/>
          <a:ln/>
        </p:spPr>
        <p:txBody>
          <a:bodyPr wrap="square" lIns="0" tIns="0" rIns="0" bIns="0" rtlCol="0" anchor="t"/>
          <a:lstStyle/>
          <a:p>
            <a:pPr marL="0" indent="0">
              <a:buNone/>
            </a:pPr>
            <a:r>
              <a:rPr lang="en-US" sz="2600" dirty="0">
                <a:solidFill>
                  <a:srgbClr val="F7F4EF"/>
                </a:solidFill>
                <a:latin typeface="Segoe UI" pitchFamily="34" charset="0"/>
                <a:ea typeface="Segoe UI" pitchFamily="34" charset="-122"/>
                <a:cs typeface="Segoe UI" pitchFamily="34" charset="-120"/>
              </a:rPr>
              <a:t>From your laptop to an AI</a:t>
            </a:r>
            <a:endParaRPr lang="en-US" sz="2600" dirty="0"/>
          </a:p>
          <a:p>
            <a:pPr marL="0" indent="0">
              <a:buNone/>
            </a:pPr>
            <a:r>
              <a:rPr lang="en-US" sz="2600" dirty="0">
                <a:solidFill>
                  <a:srgbClr val="F7F4EF"/>
                </a:solidFill>
                <a:latin typeface="Segoe UI" pitchFamily="34" charset="0"/>
                <a:ea typeface="Segoe UI" pitchFamily="34" charset="-122"/>
                <a:cs typeface="Segoe UI" pitchFamily="34" charset="-120"/>
              </a:rPr>
              <a:t>you can see inside</a:t>
            </a:r>
            <a:endParaRPr lang="en-US" sz="2600" dirty="0"/>
          </a:p>
        </p:txBody>
      </p:sp>
      <p:sp>
        <p:nvSpPr>
          <p:cNvPr id="5" name="Text 3"/>
          <p:cNvSpPr/>
          <p:nvPr/>
        </p:nvSpPr>
        <p:spPr>
          <a:xfrm>
            <a:off x="685800" y="4434840"/>
            <a:ext cx="5486400" cy="548640"/>
          </a:xfrm>
          <a:prstGeom prst="rect">
            <a:avLst/>
          </a:prstGeom>
          <a:noFill/>
          <a:ln/>
        </p:spPr>
        <p:txBody>
          <a:bodyPr wrap="square" lIns="0" tIns="0" rIns="0" bIns="0" rtlCol="0" anchor="t"/>
          <a:lstStyle/>
          <a:p>
            <a:pPr marL="0" indent="0">
              <a:buNone/>
            </a:pPr>
            <a:r>
              <a:rPr lang="en-US" sz="1500" dirty="0">
                <a:solidFill>
                  <a:srgbClr val="C9C4BE"/>
                </a:solidFill>
                <a:latin typeface="Segoe UI" pitchFamily="34" charset="0"/>
                <a:ea typeface="Segoe UI" pitchFamily="34" charset="-122"/>
                <a:cs typeface="Segoe UI" pitchFamily="34" charset="-120"/>
              </a:rPr>
              <a:t>Spring Boot  ·  Azure Container Apps</a:t>
            </a:r>
            <a:endParaRPr lang="en-US" sz="1500" dirty="0"/>
          </a:p>
          <a:p>
            <a:pPr marL="0" indent="0">
              <a:buNone/>
            </a:pPr>
            <a:r>
              <a:rPr lang="en-US" sz="1500" dirty="0">
                <a:solidFill>
                  <a:srgbClr val="C9C4BE"/>
                </a:solidFill>
                <a:latin typeface="Segoe UI" pitchFamily="34" charset="0"/>
                <a:ea typeface="Segoe UI" pitchFamily="34" charset="-122"/>
                <a:cs typeface="Segoe UI" pitchFamily="34" charset="-120"/>
              </a:rPr>
              <a:t>Microsoft Foundry  ·  OpenTelemetry</a:t>
            </a:r>
            <a:endParaRPr lang="en-US" sz="1500" dirty="0"/>
          </a:p>
        </p:txBody>
      </p:sp>
      <p:sp>
        <p:nvSpPr>
          <p:cNvPr id="6" name="Text 4"/>
          <p:cNvSpPr/>
          <p:nvPr/>
        </p:nvSpPr>
        <p:spPr>
          <a:xfrm>
            <a:off x="685800" y="5897880"/>
            <a:ext cx="5486400" cy="320040"/>
          </a:xfrm>
          <a:prstGeom prst="rect">
            <a:avLst/>
          </a:prstGeom>
          <a:noFill/>
          <a:ln/>
        </p:spPr>
        <p:txBody>
          <a:bodyPr wrap="square" lIns="0" tIns="0" rIns="0" bIns="0" rtlCol="0" anchor="ctr"/>
          <a:lstStyle/>
          <a:p>
            <a:pPr marL="0" indent="0">
              <a:buNone/>
            </a:pPr>
            <a:r>
              <a:rPr lang="en-US" sz="1400" dirty="0">
                <a:solidFill>
                  <a:srgbClr val="C9C4BE"/>
                </a:solidFill>
                <a:latin typeface="Consolas" pitchFamily="34" charset="0"/>
                <a:ea typeface="Consolas" pitchFamily="34" charset="-122"/>
                <a:cs typeface="Consolas" pitchFamily="34" charset="-120"/>
              </a:rPr>
              <a:t>github.com/roryp/spring-ai-webstore</a:t>
            </a:r>
            <a:endParaRPr lang="en-US" sz="1400" dirty="0"/>
          </a:p>
        </p:txBody>
      </p:sp>
      <p:sp>
        <p:nvSpPr>
          <p:cNvPr id="7" name="Shape 5"/>
          <p:cNvSpPr/>
          <p:nvPr/>
        </p:nvSpPr>
        <p:spPr>
          <a:xfrm>
            <a:off x="6400800" y="1356000"/>
            <a:ext cx="5212080" cy="4146001"/>
          </a:xfrm>
          <a:prstGeom prst="rect">
            <a:avLst/>
          </a:prstGeom>
          <a:solidFill>
            <a:srgbClr val="FFFFFF"/>
          </a:solidFill>
          <a:ln w="9525">
            <a:solidFill>
              <a:srgbClr val="FFFFFF"/>
            </a:solidFill>
            <a:prstDash val="solid"/>
          </a:ln>
          <a:effectLst>
            <a:outerShdw blurRad="228600" dist="76200" dir="5400000" algn="bl" rotWithShape="0">
              <a:srgbClr val="000000">
                <a:alpha val="35000"/>
              </a:srgbClr>
            </a:outerShdw>
          </a:effectLst>
        </p:spPr>
        <p:txBody>
          <a:bodyPr/>
          <a:lstStyle/>
          <a:p>
            <a:endParaRPr lang="en-ZA"/>
          </a:p>
        </p:txBody>
      </p:sp>
      <p:pic>
        <p:nvPicPr>
          <p:cNvPr id="8" name="Image 0" descr="The Trail Store page, with the AI assistant answering a question"/>
          <p:cNvPicPr>
            <a:picLocks noChangeAspect="1"/>
          </p:cNvPicPr>
          <p:nvPr/>
        </p:nvPicPr>
        <p:blipFill>
          <a:blip r:embed="rId3"/>
          <a:stretch>
            <a:fillRect/>
          </a:stretch>
        </p:blipFill>
        <p:spPr>
          <a:xfrm>
            <a:off x="6492240" y="1447440"/>
            <a:ext cx="5029200" cy="396312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Four steps. One idea each.</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marL="0" indent="0">
              <a:buNone/>
            </a:pPr>
            <a:r>
              <a:rPr lang="en-US" sz="1600" dirty="0">
                <a:solidFill>
                  <a:srgbClr val="5C5C5C"/>
                </a:solidFill>
                <a:latin typeface="Segoe UI" pitchFamily="34" charset="0"/>
                <a:ea typeface="Segoe UI" pitchFamily="34" charset="-122"/>
                <a:cs typeface="Segoe UI" pitchFamily="34" charset="-120"/>
              </a:rPr>
              <a:t>Each step is a folder in the repo, and each adds one idea to the step before it.</a:t>
            </a:r>
            <a:endParaRPr lang="en-US" sz="1600" dirty="0"/>
          </a:p>
        </p:txBody>
      </p:sp>
      <p:pic>
        <p:nvPicPr>
          <p:cNvPr id="4" name="Image 0" descr="The four steps: 1, run it on your laptop; 2, ship it to Azure with azd up; 3, add an AI assistant with Microsoft Foundry; 4, see inside with OpenTelemetry"/>
          <p:cNvPicPr>
            <a:picLocks noChangeAspect="1"/>
          </p:cNvPicPr>
          <p:nvPr/>
        </p:nvPicPr>
        <p:blipFill>
          <a:blip r:embed="rId3"/>
          <a:stretch>
            <a:fillRect/>
          </a:stretch>
        </p:blipFill>
        <p:spPr>
          <a:xfrm>
            <a:off x="365760" y="1952649"/>
            <a:ext cx="11457432" cy="395854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Today: 45 minutes, only a browser</a:t>
            </a:r>
            <a:endParaRPr lang="en-US" sz="3200" dirty="0"/>
          </a:p>
        </p:txBody>
      </p:sp>
      <p:sp>
        <p:nvSpPr>
          <p:cNvPr id="3" name="Shape 1"/>
          <p:cNvSpPr/>
          <p:nvPr/>
        </p:nvSpPr>
        <p:spPr>
          <a:xfrm>
            <a:off x="548640" y="1463040"/>
            <a:ext cx="693725" cy="548640"/>
          </a:xfrm>
          <a:prstGeom prst="rect">
            <a:avLst/>
          </a:prstGeom>
          <a:solidFill>
            <a:srgbClr val="6F6F6F"/>
          </a:solidFill>
          <a:ln w="12700">
            <a:solidFill>
              <a:srgbClr val="6F6F6F"/>
            </a:solidFill>
            <a:prstDash val="solid"/>
          </a:ln>
        </p:spPr>
        <p:txBody>
          <a:bodyPr/>
          <a:lstStyle/>
          <a:p>
            <a:endParaRPr lang="en-ZA"/>
          </a:p>
        </p:txBody>
      </p:sp>
      <p:sp>
        <p:nvSpPr>
          <p:cNvPr id="4" name="Text 2"/>
          <p:cNvSpPr/>
          <p:nvPr/>
        </p:nvSpPr>
        <p:spPr>
          <a:xfrm>
            <a:off x="548640" y="1463040"/>
            <a:ext cx="693725"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 min</a:t>
            </a:r>
            <a:endParaRPr lang="en-US" sz="1400" dirty="0"/>
          </a:p>
        </p:txBody>
      </p:sp>
      <p:sp>
        <p:nvSpPr>
          <p:cNvPr id="5" name="Text 3"/>
          <p:cNvSpPr/>
          <p:nvPr/>
        </p:nvSpPr>
        <p:spPr>
          <a:xfrm>
            <a:off x="548640" y="2103120"/>
            <a:ext cx="693725"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Plan</a:t>
            </a:r>
            <a:endParaRPr lang="en-US" sz="1400" dirty="0"/>
          </a:p>
        </p:txBody>
      </p:sp>
      <p:sp>
        <p:nvSpPr>
          <p:cNvPr id="6" name="Shape 4"/>
          <p:cNvSpPr/>
          <p:nvPr/>
        </p:nvSpPr>
        <p:spPr>
          <a:xfrm>
            <a:off x="1288085" y="1463040"/>
            <a:ext cx="1679651" cy="548640"/>
          </a:xfrm>
          <a:prstGeom prst="rect">
            <a:avLst/>
          </a:prstGeom>
          <a:solidFill>
            <a:srgbClr val="B11F4B"/>
          </a:solidFill>
          <a:ln w="12700">
            <a:solidFill>
              <a:srgbClr val="B11F4B"/>
            </a:solidFill>
            <a:prstDash val="solid"/>
          </a:ln>
        </p:spPr>
        <p:txBody>
          <a:bodyPr/>
          <a:lstStyle/>
          <a:p>
            <a:endParaRPr lang="en-ZA"/>
          </a:p>
        </p:txBody>
      </p:sp>
      <p:sp>
        <p:nvSpPr>
          <p:cNvPr id="7" name="Text 5"/>
          <p:cNvSpPr/>
          <p:nvPr/>
        </p:nvSpPr>
        <p:spPr>
          <a:xfrm>
            <a:off x="1288085" y="1463040"/>
            <a:ext cx="1679651"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7 min</a:t>
            </a:r>
            <a:endParaRPr lang="en-US" sz="1400" dirty="0"/>
          </a:p>
        </p:txBody>
      </p:sp>
      <p:sp>
        <p:nvSpPr>
          <p:cNvPr id="8" name="Text 6"/>
          <p:cNvSpPr/>
          <p:nvPr/>
        </p:nvSpPr>
        <p:spPr>
          <a:xfrm>
            <a:off x="1288085" y="2103120"/>
            <a:ext cx="1679651"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1</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Run it</a:t>
            </a:r>
            <a:endParaRPr lang="en-US" sz="1400" dirty="0"/>
          </a:p>
        </p:txBody>
      </p:sp>
      <p:sp>
        <p:nvSpPr>
          <p:cNvPr id="9" name="Shape 7"/>
          <p:cNvSpPr/>
          <p:nvPr/>
        </p:nvSpPr>
        <p:spPr>
          <a:xfrm>
            <a:off x="3013456" y="1463040"/>
            <a:ext cx="2419096" cy="54864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3013456" y="1463040"/>
            <a:ext cx="2419096"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10 min</a:t>
            </a:r>
            <a:endParaRPr lang="en-US" sz="1400" dirty="0"/>
          </a:p>
        </p:txBody>
      </p:sp>
      <p:sp>
        <p:nvSpPr>
          <p:cNvPr id="11" name="Text 9"/>
          <p:cNvSpPr/>
          <p:nvPr/>
        </p:nvSpPr>
        <p:spPr>
          <a:xfrm>
            <a:off x="3013456" y="2103120"/>
            <a:ext cx="2419096"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2</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Ship it</a:t>
            </a:r>
            <a:endParaRPr lang="en-US" sz="1400" dirty="0"/>
          </a:p>
        </p:txBody>
      </p:sp>
      <p:sp>
        <p:nvSpPr>
          <p:cNvPr id="12" name="Shape 10"/>
          <p:cNvSpPr/>
          <p:nvPr/>
        </p:nvSpPr>
        <p:spPr>
          <a:xfrm>
            <a:off x="5478272" y="1463040"/>
            <a:ext cx="2912059" cy="548640"/>
          </a:xfrm>
          <a:prstGeom prst="rect">
            <a:avLst/>
          </a:prstGeom>
          <a:solidFill>
            <a:srgbClr val="5C2D91"/>
          </a:solidFill>
          <a:ln w="12700">
            <a:solidFill>
              <a:srgbClr val="5C2D91"/>
            </a:solidFill>
            <a:prstDash val="solid"/>
          </a:ln>
        </p:spPr>
        <p:txBody>
          <a:bodyPr/>
          <a:lstStyle/>
          <a:p>
            <a:endParaRPr lang="en-ZA"/>
          </a:p>
        </p:txBody>
      </p:sp>
      <p:sp>
        <p:nvSpPr>
          <p:cNvPr id="13" name="Text 11"/>
          <p:cNvSpPr/>
          <p:nvPr/>
        </p:nvSpPr>
        <p:spPr>
          <a:xfrm>
            <a:off x="5478272" y="1463040"/>
            <a:ext cx="2912059"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12 min</a:t>
            </a:r>
            <a:endParaRPr lang="en-US" sz="1400" dirty="0"/>
          </a:p>
        </p:txBody>
      </p:sp>
      <p:sp>
        <p:nvSpPr>
          <p:cNvPr id="14" name="Text 12"/>
          <p:cNvSpPr/>
          <p:nvPr/>
        </p:nvSpPr>
        <p:spPr>
          <a:xfrm>
            <a:off x="5478272" y="2103120"/>
            <a:ext cx="2912059"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3</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Add AI</a:t>
            </a:r>
            <a:endParaRPr lang="en-US" sz="1400" dirty="0"/>
          </a:p>
        </p:txBody>
      </p:sp>
      <p:sp>
        <p:nvSpPr>
          <p:cNvPr id="15" name="Shape 13"/>
          <p:cNvSpPr/>
          <p:nvPr/>
        </p:nvSpPr>
        <p:spPr>
          <a:xfrm>
            <a:off x="8436051" y="1463040"/>
            <a:ext cx="1926133" cy="548640"/>
          </a:xfrm>
          <a:prstGeom prst="rect">
            <a:avLst/>
          </a:prstGeom>
          <a:solidFill>
            <a:srgbClr val="107C10"/>
          </a:solidFill>
          <a:ln w="12700">
            <a:solidFill>
              <a:srgbClr val="107C10"/>
            </a:solidFill>
            <a:prstDash val="solid"/>
          </a:ln>
        </p:spPr>
        <p:txBody>
          <a:bodyPr/>
          <a:lstStyle/>
          <a:p>
            <a:endParaRPr lang="en-ZA"/>
          </a:p>
        </p:txBody>
      </p:sp>
      <p:sp>
        <p:nvSpPr>
          <p:cNvPr id="16" name="Text 14"/>
          <p:cNvSpPr/>
          <p:nvPr/>
        </p:nvSpPr>
        <p:spPr>
          <a:xfrm>
            <a:off x="8436051" y="1463040"/>
            <a:ext cx="1926133"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8 min</a:t>
            </a:r>
            <a:endParaRPr lang="en-US" sz="1400" dirty="0"/>
          </a:p>
        </p:txBody>
      </p:sp>
      <p:sp>
        <p:nvSpPr>
          <p:cNvPr id="17" name="Text 15"/>
          <p:cNvSpPr/>
          <p:nvPr/>
        </p:nvSpPr>
        <p:spPr>
          <a:xfrm>
            <a:off x="8436051" y="2103120"/>
            <a:ext cx="1926133"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4</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See inside</a:t>
            </a:r>
            <a:endParaRPr lang="en-US" sz="1400" dirty="0"/>
          </a:p>
        </p:txBody>
      </p:sp>
      <p:sp>
        <p:nvSpPr>
          <p:cNvPr id="18" name="Shape 16"/>
          <p:cNvSpPr/>
          <p:nvPr/>
        </p:nvSpPr>
        <p:spPr>
          <a:xfrm>
            <a:off x="10407904" y="1463040"/>
            <a:ext cx="1232408" cy="548640"/>
          </a:xfrm>
          <a:prstGeom prst="rect">
            <a:avLst/>
          </a:prstGeom>
          <a:solidFill>
            <a:srgbClr val="6F6F6F"/>
          </a:solidFill>
          <a:ln w="12700">
            <a:solidFill>
              <a:srgbClr val="6F6F6F"/>
            </a:solidFill>
            <a:prstDash val="solid"/>
          </a:ln>
        </p:spPr>
        <p:txBody>
          <a:bodyPr/>
          <a:lstStyle/>
          <a:p>
            <a:endParaRPr lang="en-ZA"/>
          </a:p>
        </p:txBody>
      </p:sp>
      <p:sp>
        <p:nvSpPr>
          <p:cNvPr id="19" name="Text 17"/>
          <p:cNvSpPr/>
          <p:nvPr/>
        </p:nvSpPr>
        <p:spPr>
          <a:xfrm>
            <a:off x="10407904" y="1463040"/>
            <a:ext cx="1232408"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5 min</a:t>
            </a:r>
            <a:endParaRPr lang="en-US" sz="1400" dirty="0"/>
          </a:p>
        </p:txBody>
      </p:sp>
      <p:sp>
        <p:nvSpPr>
          <p:cNvPr id="20" name="Text 18"/>
          <p:cNvSpPr/>
          <p:nvPr/>
        </p:nvSpPr>
        <p:spPr>
          <a:xfrm>
            <a:off x="10407904" y="2103120"/>
            <a:ext cx="1232408"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Wrap-up</a:t>
            </a:r>
            <a:endParaRPr lang="en-US" sz="1400" dirty="0"/>
          </a:p>
        </p:txBody>
      </p:sp>
      <p:sp>
        <p:nvSpPr>
          <p:cNvPr id="21" name="Shape 19"/>
          <p:cNvSpPr/>
          <p:nvPr/>
        </p:nvSpPr>
        <p:spPr>
          <a:xfrm>
            <a:off x="548640" y="3108960"/>
            <a:ext cx="5394960" cy="2834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22" name="Shape 20"/>
          <p:cNvSpPr/>
          <p:nvPr/>
        </p:nvSpPr>
        <p:spPr>
          <a:xfrm>
            <a:off x="548640" y="3108960"/>
            <a:ext cx="82296" cy="2834640"/>
          </a:xfrm>
          <a:prstGeom prst="rect">
            <a:avLst/>
          </a:prstGeom>
          <a:solidFill>
            <a:srgbClr val="B11F4B"/>
          </a:solidFill>
          <a:ln w="12700">
            <a:solidFill>
              <a:srgbClr val="B11F4B"/>
            </a:solidFill>
            <a:prstDash val="solid"/>
          </a:ln>
        </p:spPr>
        <p:txBody>
          <a:bodyPr/>
          <a:lstStyle/>
          <a:p>
            <a:endParaRPr lang="en-ZA"/>
          </a:p>
        </p:txBody>
      </p:sp>
      <p:sp>
        <p:nvSpPr>
          <p:cNvPr id="23" name="Text 21"/>
          <p:cNvSpPr/>
          <p:nvPr/>
        </p:nvSpPr>
        <p:spPr>
          <a:xfrm>
            <a:off x="868680" y="3337560"/>
            <a:ext cx="48463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YOU NEED</a:t>
            </a:r>
            <a:endParaRPr lang="en-US" sz="1300" dirty="0"/>
          </a:p>
        </p:txBody>
      </p:sp>
      <p:sp>
        <p:nvSpPr>
          <p:cNvPr id="24" name="Text 22"/>
          <p:cNvSpPr/>
          <p:nvPr/>
        </p:nvSpPr>
        <p:spPr>
          <a:xfrm>
            <a:off x="868680" y="3639312"/>
            <a:ext cx="4846320" cy="548640"/>
          </a:xfrm>
          <a:prstGeom prst="rect">
            <a:avLst/>
          </a:prstGeom>
          <a:noFill/>
          <a:ln/>
        </p:spPr>
        <p:txBody>
          <a:bodyPr wrap="square" lIns="0" tIns="0" rIns="0" bIns="0" rtlCol="0" anchor="ctr"/>
          <a:lstStyle/>
          <a:p>
            <a:pPr marL="0" indent="0">
              <a:buNone/>
            </a:pPr>
            <a:r>
              <a:rPr lang="en-US" sz="2800" dirty="0">
                <a:solidFill>
                  <a:srgbClr val="242424"/>
                </a:solidFill>
                <a:latin typeface="Segoe UI Semibold" pitchFamily="34" charset="0"/>
                <a:ea typeface="Segoe UI Semibold" pitchFamily="34" charset="-122"/>
                <a:cs typeface="Segoe UI Semibold" pitchFamily="34" charset="-120"/>
              </a:rPr>
              <a:t>A browser. That's all.</a:t>
            </a:r>
            <a:endParaRPr lang="en-US" sz="2800" dirty="0"/>
          </a:p>
        </p:txBody>
      </p:sp>
      <p:sp>
        <p:nvSpPr>
          <p:cNvPr id="25" name="Text 23"/>
          <p:cNvSpPr/>
          <p:nvPr/>
        </p:nvSpPr>
        <p:spPr>
          <a:xfrm>
            <a:off x="868680" y="4389120"/>
            <a:ext cx="4846320" cy="1371600"/>
          </a:xfrm>
          <a:prstGeom prst="rect">
            <a:avLst/>
          </a:prstGeom>
          <a:noFill/>
          <a:ln/>
        </p:spPr>
        <p:txBody>
          <a:bodyPr wrap="square" lIns="0" tIns="0" rIns="0" bIns="0" rtlCol="0" anchor="t"/>
          <a:lstStyle/>
          <a:p>
            <a:pPr marL="0" indent="0">
              <a:buNone/>
            </a:pPr>
            <a:r>
              <a:rPr lang="en-US" sz="1500" b="1" dirty="0">
                <a:solidFill>
                  <a:srgbClr val="242424"/>
                </a:solidFill>
                <a:latin typeface="Segoe UI" pitchFamily="34" charset="0"/>
                <a:ea typeface="Segoe UI" pitchFamily="34" charset="-122"/>
                <a:cs typeface="Segoe UI" pitchFamily="34" charset="-120"/>
              </a:rPr>
              <a:t>Code</a:t>
            </a:r>
            <a:endParaRPr lang="en-US" sz="1500" dirty="0"/>
          </a:p>
          <a:p>
            <a:pPr marL="0" indent="0">
              <a:buNone/>
            </a:pPr>
            <a:r>
              <a:rPr lang="en-US" sz="1500" dirty="0">
                <a:solidFill>
                  <a:srgbClr val="242424"/>
                </a:solidFill>
                <a:latin typeface="Consolas" pitchFamily="34" charset="0"/>
                <a:ea typeface="Consolas" pitchFamily="34" charset="-122"/>
                <a:cs typeface="Consolas" pitchFamily="34" charset="-120"/>
              </a:rPr>
              <a:t>github.com/roryp/spring-ai-webstore</a:t>
            </a:r>
            <a:endParaRPr lang="en-US" sz="1500" dirty="0"/>
          </a:p>
          <a:p>
            <a:pPr marL="0" indent="0">
              <a:buNone/>
            </a:pPr>
            <a:r>
              <a:rPr lang="en-US" sz="800" dirty="0">
                <a:solidFill>
                  <a:srgbClr val="242424"/>
                </a:solidFill>
                <a:latin typeface="Segoe UI" pitchFamily="34" charset="0"/>
                <a:ea typeface="Segoe UI" pitchFamily="34" charset="-122"/>
                <a:cs typeface="Segoe UI" pitchFamily="34" charset="-120"/>
              </a:rPr>
              <a:t xml:space="preserve"> </a:t>
            </a:r>
            <a:endParaRPr lang="en-US" sz="1500" dirty="0"/>
          </a:p>
          <a:p>
            <a:pPr marL="0" indent="0">
              <a:buNone/>
            </a:pPr>
            <a:r>
              <a:rPr lang="en-US" sz="1500" b="1" dirty="0">
                <a:solidFill>
                  <a:srgbClr val="242424"/>
                </a:solidFill>
                <a:latin typeface="Segoe UI" pitchFamily="34" charset="0"/>
                <a:ea typeface="Segoe UI" pitchFamily="34" charset="-122"/>
                <a:cs typeface="Segoe UI" pitchFamily="34" charset="-120"/>
              </a:rPr>
              <a:t>Live apps</a:t>
            </a:r>
            <a:endParaRPr lang="en-US" sz="1500" dirty="0"/>
          </a:p>
          <a:p>
            <a:pPr marL="0" indent="0">
              <a:buNone/>
            </a:pPr>
            <a:r>
              <a:rPr lang="en-US" sz="1500" dirty="0">
                <a:solidFill>
                  <a:srgbClr val="242424"/>
                </a:solidFill>
                <a:latin typeface="Segoe UI" pitchFamily="34" charset="0"/>
                <a:ea typeface="Segoe UI" pitchFamily="34" charset="-122"/>
                <a:cs typeface="Segoe UI" pitchFamily="34" charset="-120"/>
              </a:rPr>
              <a:t>Links from your presenter</a:t>
            </a:r>
            <a:endParaRPr lang="en-US" sz="1500" dirty="0"/>
          </a:p>
        </p:txBody>
      </p:sp>
      <p:sp>
        <p:nvSpPr>
          <p:cNvPr id="26" name="Shape 24"/>
          <p:cNvSpPr/>
          <p:nvPr/>
        </p:nvSpPr>
        <p:spPr>
          <a:xfrm>
            <a:off x="6245352" y="3108960"/>
            <a:ext cx="5394960" cy="2834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27" name="Shape 25"/>
          <p:cNvSpPr/>
          <p:nvPr/>
        </p:nvSpPr>
        <p:spPr>
          <a:xfrm>
            <a:off x="6245352" y="3108960"/>
            <a:ext cx="82296" cy="2834640"/>
          </a:xfrm>
          <a:prstGeom prst="rect">
            <a:avLst/>
          </a:prstGeom>
          <a:solidFill>
            <a:srgbClr val="B11F4B"/>
          </a:solidFill>
          <a:ln w="12700">
            <a:solidFill>
              <a:srgbClr val="B11F4B"/>
            </a:solidFill>
            <a:prstDash val="solid"/>
          </a:ln>
        </p:spPr>
        <p:txBody>
          <a:bodyPr/>
          <a:lstStyle/>
          <a:p>
            <a:endParaRPr lang="en-ZA"/>
          </a:p>
        </p:txBody>
      </p:sp>
      <p:sp>
        <p:nvSpPr>
          <p:cNvPr id="28" name="Text 26"/>
          <p:cNvSpPr/>
          <p:nvPr/>
        </p:nvSpPr>
        <p:spPr>
          <a:xfrm>
            <a:off x="6565392" y="3337560"/>
            <a:ext cx="48463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FOR EACH STEP</a:t>
            </a:r>
            <a:endParaRPr lang="en-US" sz="1300" dirty="0"/>
          </a:p>
        </p:txBody>
      </p:sp>
      <p:sp>
        <p:nvSpPr>
          <p:cNvPr id="29" name="Shape 27"/>
          <p:cNvSpPr/>
          <p:nvPr/>
        </p:nvSpPr>
        <p:spPr>
          <a:xfrm>
            <a:off x="6565392" y="3657600"/>
            <a:ext cx="384048" cy="384048"/>
          </a:xfrm>
          <a:prstGeom prst="ellipse">
            <a:avLst/>
          </a:prstGeom>
          <a:solidFill>
            <a:srgbClr val="B11F4B"/>
          </a:solidFill>
          <a:ln w="12700">
            <a:solidFill>
              <a:srgbClr val="B11F4B"/>
            </a:solidFill>
            <a:prstDash val="solid"/>
          </a:ln>
        </p:spPr>
        <p:txBody>
          <a:bodyPr/>
          <a:lstStyle/>
          <a:p>
            <a:endParaRPr lang="en-ZA"/>
          </a:p>
        </p:txBody>
      </p:sp>
      <p:sp>
        <p:nvSpPr>
          <p:cNvPr id="30" name="Text 28"/>
          <p:cNvSpPr/>
          <p:nvPr/>
        </p:nvSpPr>
        <p:spPr>
          <a:xfrm>
            <a:off x="6565392" y="3657600"/>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1" name="Text 29"/>
          <p:cNvSpPr/>
          <p:nvPr/>
        </p:nvSpPr>
        <p:spPr>
          <a:xfrm>
            <a:off x="7132320" y="3639312"/>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Look at the diagram</a:t>
            </a:r>
            <a:endParaRPr lang="en-US" sz="1700" dirty="0"/>
          </a:p>
        </p:txBody>
      </p:sp>
      <p:sp>
        <p:nvSpPr>
          <p:cNvPr id="32" name="Shape 30"/>
          <p:cNvSpPr/>
          <p:nvPr/>
        </p:nvSpPr>
        <p:spPr>
          <a:xfrm>
            <a:off x="6565392" y="4187952"/>
            <a:ext cx="384048" cy="384048"/>
          </a:xfrm>
          <a:prstGeom prst="ellipse">
            <a:avLst/>
          </a:prstGeom>
          <a:solidFill>
            <a:srgbClr val="B11F4B"/>
          </a:solidFill>
          <a:ln w="12700">
            <a:solidFill>
              <a:srgbClr val="B11F4B"/>
            </a:solidFill>
            <a:prstDash val="solid"/>
          </a:ln>
        </p:spPr>
        <p:txBody>
          <a:bodyPr/>
          <a:lstStyle/>
          <a:p>
            <a:endParaRPr lang="en-ZA"/>
          </a:p>
        </p:txBody>
      </p:sp>
      <p:sp>
        <p:nvSpPr>
          <p:cNvPr id="33" name="Text 31"/>
          <p:cNvSpPr/>
          <p:nvPr/>
        </p:nvSpPr>
        <p:spPr>
          <a:xfrm>
            <a:off x="6565392" y="4187952"/>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4" name="Text 32"/>
          <p:cNvSpPr/>
          <p:nvPr/>
        </p:nvSpPr>
        <p:spPr>
          <a:xfrm>
            <a:off x="7132320" y="4169664"/>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Read the code on GitHub</a:t>
            </a:r>
            <a:endParaRPr lang="en-US" sz="1700" dirty="0"/>
          </a:p>
        </p:txBody>
      </p:sp>
      <p:sp>
        <p:nvSpPr>
          <p:cNvPr id="35" name="Shape 33"/>
          <p:cNvSpPr/>
          <p:nvPr/>
        </p:nvSpPr>
        <p:spPr>
          <a:xfrm>
            <a:off x="6565392" y="4718304"/>
            <a:ext cx="384048" cy="384048"/>
          </a:xfrm>
          <a:prstGeom prst="ellipse">
            <a:avLst/>
          </a:prstGeom>
          <a:solidFill>
            <a:srgbClr val="B11F4B"/>
          </a:solidFill>
          <a:ln w="12700">
            <a:solidFill>
              <a:srgbClr val="B11F4B"/>
            </a:solidFill>
            <a:prstDash val="solid"/>
          </a:ln>
        </p:spPr>
        <p:txBody>
          <a:bodyPr/>
          <a:lstStyle/>
          <a:p>
            <a:endParaRPr lang="en-ZA"/>
          </a:p>
        </p:txBody>
      </p:sp>
      <p:sp>
        <p:nvSpPr>
          <p:cNvPr id="36" name="Text 34"/>
          <p:cNvSpPr/>
          <p:nvPr/>
        </p:nvSpPr>
        <p:spPr>
          <a:xfrm>
            <a:off x="6565392" y="4718304"/>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7" name="Text 35"/>
          <p:cNvSpPr/>
          <p:nvPr/>
        </p:nvSpPr>
        <p:spPr>
          <a:xfrm>
            <a:off x="7132320" y="4700016"/>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Try the live app</a:t>
            </a:r>
            <a:endParaRPr lang="en-US" sz="1700" dirty="0"/>
          </a:p>
        </p:txBody>
      </p:sp>
      <p:sp>
        <p:nvSpPr>
          <p:cNvPr id="38" name="Shape 36"/>
          <p:cNvSpPr/>
          <p:nvPr/>
        </p:nvSpPr>
        <p:spPr>
          <a:xfrm>
            <a:off x="6565392" y="5248656"/>
            <a:ext cx="384048" cy="384048"/>
          </a:xfrm>
          <a:prstGeom prst="ellipse">
            <a:avLst/>
          </a:prstGeom>
          <a:solidFill>
            <a:srgbClr val="B11F4B"/>
          </a:solidFill>
          <a:ln w="12700">
            <a:solidFill>
              <a:srgbClr val="B11F4B"/>
            </a:solidFill>
            <a:prstDash val="solid"/>
          </a:ln>
        </p:spPr>
        <p:txBody>
          <a:bodyPr/>
          <a:lstStyle/>
          <a:p>
            <a:endParaRPr lang="en-ZA"/>
          </a:p>
        </p:txBody>
      </p:sp>
      <p:sp>
        <p:nvSpPr>
          <p:cNvPr id="39" name="Text 37"/>
          <p:cNvSpPr/>
          <p:nvPr/>
        </p:nvSpPr>
        <p:spPr>
          <a:xfrm>
            <a:off x="6565392" y="5248656"/>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0" name="Text 38"/>
          <p:cNvSpPr/>
          <p:nvPr/>
        </p:nvSpPr>
        <p:spPr>
          <a:xfrm>
            <a:off x="7132320" y="5230368"/>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Answer the Find questions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B11F4B"/>
                </a:solidFill>
                <a:latin typeface="Segoe UI Semibold" pitchFamily="34" charset="0"/>
                <a:ea typeface="Segoe UI Semibold" pitchFamily="34" charset="-122"/>
                <a:cs typeface="Segoe UI Semibold" pitchFamily="34" charset="-120"/>
              </a:rPr>
              <a:t xml:space="preserve">Step 1   </a:t>
            </a:r>
            <a:r>
              <a:rPr lang="en-US" sz="3200" dirty="0">
                <a:solidFill>
                  <a:srgbClr val="242424"/>
                </a:solidFill>
                <a:latin typeface="Segoe UI Semibold" pitchFamily="34" charset="0"/>
                <a:ea typeface="Segoe UI Semibold" pitchFamily="34" charset="-122"/>
                <a:cs typeface="Segoe UI Semibold" pitchFamily="34" charset="-120"/>
              </a:rPr>
              <a:t>One app on your laptop</a:t>
            </a:r>
            <a:endParaRPr lang="en-US" sz="3200" dirty="0"/>
          </a:p>
        </p:txBody>
      </p:sp>
      <p:pic>
        <p:nvPicPr>
          <p:cNvPr id="3" name="Image 0" descr="The browser sends GET / to StoreController, which gets six products from Catalog, fills in index.html, and sends the page back"/>
          <p:cNvPicPr>
            <a:picLocks noChangeAspect="1"/>
          </p:cNvPicPr>
          <p:nvPr/>
        </p:nvPicPr>
        <p:blipFill>
          <a:blip r:embed="rId3"/>
          <a:stretch>
            <a:fillRect/>
          </a:stretch>
        </p:blipFill>
        <p:spPr>
          <a:xfrm>
            <a:off x="365760" y="1229831"/>
            <a:ext cx="11457432" cy="3849697"/>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B11F4B"/>
          </a:solidFill>
          <a:ln w="12700">
            <a:solidFill>
              <a:srgbClr val="B11F4B"/>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Product.java   Catalog.java   StoreController.java</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many products are there?</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Which one is out of stock?</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005A9E"/>
                </a:solidFill>
                <a:latin typeface="Segoe UI Semibold" pitchFamily="34" charset="0"/>
                <a:ea typeface="Segoe UI Semibold" pitchFamily="34" charset="-122"/>
                <a:cs typeface="Segoe UI Semibold" pitchFamily="34" charset="-120"/>
              </a:rPr>
              <a:t xml:space="preserve">Step 2   </a:t>
            </a:r>
            <a:r>
              <a:rPr lang="en-US" sz="3200" dirty="0">
                <a:solidFill>
                  <a:srgbClr val="242424"/>
                </a:solidFill>
                <a:latin typeface="Segoe UI Semibold" pitchFamily="34" charset="0"/>
                <a:ea typeface="Segoe UI Semibold" pitchFamily="34" charset="-122"/>
                <a:cs typeface="Segoe UI Semibold" pitchFamily="34" charset="-120"/>
              </a:rPr>
              <a:t>One command puts the app on Azure</a:t>
            </a:r>
            <a:endParaRPr lang="en-US" sz="3200" dirty="0"/>
          </a:p>
        </p:txBody>
      </p:sp>
      <p:pic>
        <p:nvPicPr>
          <p:cNvPr id="3" name="Image 0" descr="azd up creates a container registry, a managed identity and a container app in one resource group, builds the image in Azure, and deploys it behind a public HTTPS address"/>
          <p:cNvPicPr>
            <a:picLocks noChangeAspect="1"/>
          </p:cNvPicPr>
          <p:nvPr/>
        </p:nvPicPr>
        <p:blipFill>
          <a:blip r:embed="rId3"/>
          <a:stretch>
            <a:fillRect/>
          </a:stretch>
        </p:blipFill>
        <p:spPr>
          <a:xfrm>
            <a:off x="365760" y="1181137"/>
            <a:ext cx="11457432" cy="3947085"/>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0078D4"/>
          </a:solidFill>
          <a:ln w="12700">
            <a:solidFill>
              <a:srgbClr val="0078D4"/>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Dockerfile   azure.yaml   infra/app.bicep</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Which line in app.bicep lets the app scale to zero?</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How does the app pull its image without a password?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5C2D91"/>
                </a:solidFill>
                <a:latin typeface="Segoe UI Semibold" pitchFamily="34" charset="0"/>
                <a:ea typeface="Segoe UI Semibold" pitchFamily="34" charset="-122"/>
                <a:cs typeface="Segoe UI Semibold" pitchFamily="34" charset="-120"/>
              </a:rPr>
              <a:t xml:space="preserve">Step 3   </a:t>
            </a:r>
            <a:r>
              <a:rPr lang="en-US" sz="3200" dirty="0">
                <a:solidFill>
                  <a:srgbClr val="242424"/>
                </a:solidFill>
                <a:latin typeface="Segoe UI Semibold" pitchFamily="34" charset="0"/>
                <a:ea typeface="Segoe UI Semibold" pitchFamily="34" charset="-122"/>
                <a:cs typeface="Segoe UI Semibold" pitchFamily="34" charset="-120"/>
              </a:rPr>
              <a:t>How a question gets answered</a:t>
            </a:r>
            <a:endParaRPr lang="en-US" sz="3200" dirty="0"/>
          </a:p>
        </p:txBody>
      </p:sp>
      <p:pic>
        <p:nvPicPr>
          <p:cNvPr id="3" name="Image 0" descr="Eight numbered messages between you, the app, the listProducts tool and the model: two calls to the model, with one call to the Java tool in between"/>
          <p:cNvPicPr>
            <a:picLocks noChangeAspect="1"/>
          </p:cNvPicPr>
          <p:nvPr/>
        </p:nvPicPr>
        <p:blipFill>
          <a:blip r:embed="rId3"/>
          <a:stretch>
            <a:fillRect/>
          </a:stretch>
        </p:blipFill>
        <p:spPr>
          <a:xfrm>
            <a:off x="669283" y="1051560"/>
            <a:ext cx="10850385" cy="53492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Your turn: read it, then ask the store</a:t>
            </a:r>
            <a:endParaRPr lang="en-US" sz="3200" dirty="0"/>
          </a:p>
        </p:txBody>
      </p:sp>
      <p:sp>
        <p:nvSpPr>
          <p:cNvPr id="3" name="Shape 1"/>
          <p:cNvSpPr/>
          <p:nvPr/>
        </p:nvSpPr>
        <p:spPr>
          <a:xfrm>
            <a:off x="548640" y="1325880"/>
            <a:ext cx="5623560" cy="4470256"/>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pic>
        <p:nvPicPr>
          <p:cNvPr id="4" name="Image 0" descr="The step 3 store page, answering whether the Summit Waterproof Jacket is in stock"/>
          <p:cNvPicPr>
            <a:picLocks noChangeAspect="1"/>
          </p:cNvPicPr>
          <p:nvPr/>
        </p:nvPicPr>
        <p:blipFill>
          <a:blip r:embed="rId3"/>
          <a:stretch>
            <a:fillRect/>
          </a:stretch>
        </p:blipFill>
        <p:spPr>
          <a:xfrm>
            <a:off x="640080" y="1417320"/>
            <a:ext cx="5440680" cy="4287376"/>
          </a:xfrm>
          <a:prstGeom prst="rect">
            <a:avLst/>
          </a:prstGeom>
        </p:spPr>
      </p:pic>
      <p:sp>
        <p:nvSpPr>
          <p:cNvPr id="5" name="Shape 2"/>
          <p:cNvSpPr/>
          <p:nvPr/>
        </p:nvSpPr>
        <p:spPr>
          <a:xfrm>
            <a:off x="6446520" y="1325880"/>
            <a:ext cx="5193792" cy="1691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6" name="Shape 3"/>
          <p:cNvSpPr/>
          <p:nvPr/>
        </p:nvSpPr>
        <p:spPr>
          <a:xfrm>
            <a:off x="6446520" y="1325880"/>
            <a:ext cx="82296" cy="1691640"/>
          </a:xfrm>
          <a:prstGeom prst="rect">
            <a:avLst/>
          </a:prstGeom>
          <a:solidFill>
            <a:srgbClr val="5C2D91"/>
          </a:solidFill>
          <a:ln w="12700">
            <a:solidFill>
              <a:srgbClr val="5C2D91"/>
            </a:solidFill>
            <a:prstDash val="solid"/>
          </a:ln>
        </p:spPr>
        <p:txBody>
          <a:bodyPr/>
          <a:lstStyle/>
          <a:p>
            <a:endParaRPr lang="en-ZA"/>
          </a:p>
        </p:txBody>
      </p:sp>
      <p:sp>
        <p:nvSpPr>
          <p:cNvPr id="7" name="Text 4"/>
          <p:cNvSpPr/>
          <p:nvPr/>
        </p:nvSpPr>
        <p:spPr>
          <a:xfrm>
            <a:off x="6766560" y="1463040"/>
            <a:ext cx="4645152"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READ</a:t>
            </a:r>
            <a:endParaRPr lang="en-US" sz="1300" dirty="0"/>
          </a:p>
        </p:txBody>
      </p:sp>
      <p:sp>
        <p:nvSpPr>
          <p:cNvPr id="8" name="Text 5"/>
          <p:cNvSpPr/>
          <p:nvPr/>
        </p:nvSpPr>
        <p:spPr>
          <a:xfrm>
            <a:off x="6766560" y="1755648"/>
            <a:ext cx="4645152" cy="27432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InventoryTools.java   ChatController.java</a:t>
            </a:r>
            <a:endParaRPr lang="en-US" sz="1300" dirty="0"/>
          </a:p>
        </p:txBody>
      </p:sp>
      <p:sp>
        <p:nvSpPr>
          <p:cNvPr id="9" name="Text 6"/>
          <p:cNvSpPr/>
          <p:nvPr/>
        </p:nvSpPr>
        <p:spPr>
          <a:xfrm>
            <a:off x="6766560" y="2121408"/>
            <a:ext cx="4645152"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FIND</a:t>
            </a:r>
            <a:endParaRPr lang="en-US" sz="1300" dirty="0"/>
          </a:p>
        </p:txBody>
      </p:sp>
      <p:sp>
        <p:nvSpPr>
          <p:cNvPr id="10" name="Text 7"/>
          <p:cNvSpPr/>
          <p:nvPr/>
        </p:nvSpPr>
        <p:spPr>
          <a:xfrm>
            <a:off x="6766560" y="2404872"/>
            <a:ext cx="4645152" cy="50292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does the app get permission to use the model?</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Is there an API key anywhere?</a:t>
            </a:r>
            <a:endParaRPr lang="en-US" sz="1400" dirty="0"/>
          </a:p>
        </p:txBody>
      </p:sp>
      <p:sp>
        <p:nvSpPr>
          <p:cNvPr id="11" name="Text 8"/>
          <p:cNvSpPr/>
          <p:nvPr/>
        </p:nvSpPr>
        <p:spPr>
          <a:xfrm>
            <a:off x="6446520" y="3246120"/>
            <a:ext cx="5193792" cy="320040"/>
          </a:xfrm>
          <a:prstGeom prst="rect">
            <a:avLst/>
          </a:prstGeom>
          <a:noFill/>
          <a:ln/>
        </p:spPr>
        <p:txBody>
          <a:bodyPr wrap="square" lIns="0" tIns="0" rIns="0" bIns="0" rtlCol="0" anchor="ctr"/>
          <a:lstStyle/>
          <a:p>
            <a:pPr marL="0" indent="0">
              <a:buNone/>
            </a:pPr>
            <a:r>
              <a:rPr lang="en-US" sz="1600" dirty="0">
                <a:solidFill>
                  <a:srgbClr val="242424"/>
                </a:solidFill>
                <a:latin typeface="Segoe UI Semibold" pitchFamily="34" charset="0"/>
                <a:ea typeface="Segoe UI Semibold" pitchFamily="34" charset="-122"/>
                <a:cs typeface="Segoe UI Semibold" pitchFamily="34" charset="-120"/>
              </a:rPr>
              <a:t>Then ask the store one question:</a:t>
            </a:r>
            <a:endParaRPr lang="en-US" sz="1600" dirty="0"/>
          </a:p>
        </p:txBody>
      </p:sp>
      <p:sp>
        <p:nvSpPr>
          <p:cNvPr id="12" name="Shape 9"/>
          <p:cNvSpPr/>
          <p:nvPr/>
        </p:nvSpPr>
        <p:spPr>
          <a:xfrm>
            <a:off x="6446520" y="363931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3" name="Shape 10"/>
          <p:cNvSpPr/>
          <p:nvPr/>
        </p:nvSpPr>
        <p:spPr>
          <a:xfrm>
            <a:off x="6446520" y="3639312"/>
            <a:ext cx="82296" cy="411480"/>
          </a:xfrm>
          <a:prstGeom prst="rect">
            <a:avLst/>
          </a:prstGeom>
          <a:solidFill>
            <a:srgbClr val="B11F4B"/>
          </a:solidFill>
          <a:ln w="12700">
            <a:solidFill>
              <a:srgbClr val="B11F4B"/>
            </a:solidFill>
            <a:prstDash val="solid"/>
          </a:ln>
        </p:spPr>
        <p:txBody>
          <a:bodyPr/>
          <a:lstStyle/>
          <a:p>
            <a:endParaRPr lang="en-ZA"/>
          </a:p>
        </p:txBody>
      </p:sp>
      <p:sp>
        <p:nvSpPr>
          <p:cNvPr id="14" name="Text 11"/>
          <p:cNvSpPr/>
          <p:nvPr/>
        </p:nvSpPr>
        <p:spPr>
          <a:xfrm>
            <a:off x="6766560" y="363931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“Do you sell kayaks?”</a:t>
            </a:r>
            <a:endParaRPr lang="en-US" sz="1600" dirty="0"/>
          </a:p>
        </p:txBody>
      </p:sp>
      <p:sp>
        <p:nvSpPr>
          <p:cNvPr id="15" name="Shape 12"/>
          <p:cNvSpPr/>
          <p:nvPr/>
        </p:nvSpPr>
        <p:spPr>
          <a:xfrm>
            <a:off x="6446520" y="427939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6" name="Shape 13"/>
          <p:cNvSpPr/>
          <p:nvPr/>
        </p:nvSpPr>
        <p:spPr>
          <a:xfrm>
            <a:off x="6446520" y="4279392"/>
            <a:ext cx="82296" cy="411480"/>
          </a:xfrm>
          <a:prstGeom prst="rect">
            <a:avLst/>
          </a:prstGeom>
          <a:solidFill>
            <a:srgbClr val="B11F4B"/>
          </a:solidFill>
          <a:ln w="12700">
            <a:solidFill>
              <a:srgbClr val="B11F4B"/>
            </a:solidFill>
            <a:prstDash val="solid"/>
          </a:ln>
        </p:spPr>
        <p:txBody>
          <a:bodyPr/>
          <a:lstStyle/>
          <a:p>
            <a:endParaRPr lang="en-ZA"/>
          </a:p>
        </p:txBody>
      </p:sp>
      <p:sp>
        <p:nvSpPr>
          <p:cNvPr id="17" name="Text 14"/>
          <p:cNvSpPr/>
          <p:nvPr/>
        </p:nvSpPr>
        <p:spPr>
          <a:xfrm>
            <a:off x="6766560" y="427939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“What's the cheapest thing in stock?”</a:t>
            </a:r>
            <a:endParaRPr lang="en-US" sz="1600" dirty="0"/>
          </a:p>
        </p:txBody>
      </p:sp>
      <p:sp>
        <p:nvSpPr>
          <p:cNvPr id="18" name="Shape 15"/>
          <p:cNvSpPr/>
          <p:nvPr/>
        </p:nvSpPr>
        <p:spPr>
          <a:xfrm>
            <a:off x="6446520" y="491947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6"/>
          <p:cNvSpPr/>
          <p:nvPr/>
        </p:nvSpPr>
        <p:spPr>
          <a:xfrm>
            <a:off x="6446520" y="4919472"/>
            <a:ext cx="82296" cy="411480"/>
          </a:xfrm>
          <a:prstGeom prst="rect">
            <a:avLst/>
          </a:prstGeom>
          <a:solidFill>
            <a:srgbClr val="B11F4B"/>
          </a:solidFill>
          <a:ln w="12700">
            <a:solidFill>
              <a:srgbClr val="B11F4B"/>
            </a:solidFill>
            <a:prstDash val="solid"/>
          </a:ln>
        </p:spPr>
        <p:txBody>
          <a:bodyPr/>
          <a:lstStyle/>
          <a:p>
            <a:endParaRPr lang="en-ZA"/>
          </a:p>
        </p:txBody>
      </p:sp>
      <p:sp>
        <p:nvSpPr>
          <p:cNvPr id="20" name="Text 17"/>
          <p:cNvSpPr/>
          <p:nvPr/>
        </p:nvSpPr>
        <p:spPr>
          <a:xfrm>
            <a:off x="6766560" y="491947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“Write me a poem about the weather.”</a:t>
            </a:r>
            <a:endParaRPr lang="en-US" sz="1600" dirty="0"/>
          </a:p>
        </p:txBody>
      </p:sp>
      <p:sp>
        <p:nvSpPr>
          <p:cNvPr id="21" name="Text 18"/>
          <p:cNvSpPr/>
          <p:nvPr/>
        </p:nvSpPr>
        <p:spPr>
          <a:xfrm>
            <a:off x="6446520" y="5532120"/>
            <a:ext cx="5193792"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whole room shares one model. If it can't answer, wait a few seconds and try again.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Copilot SDK">
    <p:bg>
      <p:bgPr>
        <a:solidFill>
          <a:srgbClr val="F7F4EF"/>
        </a:solidFill>
        <a:effectLst/>
      </p:bgPr>
    </p:bg>
    <p:spTree>
      <p:nvGrpSpPr>
        <p:cNvPr id="1" name=""/>
        <p:cNvGrpSpPr/>
        <p:nvPr/>
      </p:nvGrpSpPr>
      <p:grpSpPr>
        <a:xfrm>
          <a:off x="0" y="0"/>
          <a:ext cx="0" cy="0"/>
          <a:chOff x="0" y="0"/>
          <a:chExt cx="0" cy="0"/>
        </a:xfrm>
      </p:grpSpPr>
      <p:sp>
        <p:nvSpPr>
          <p:cNvPr id="2" name="Title"/>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5C2D91"/>
                </a:solidFill>
                <a:latin typeface="Segoe UI Semibold" pitchFamily="34" charset="0"/>
                <a:ea typeface="Segoe UI Semibold" pitchFamily="34" charset="-122"/>
                <a:cs typeface="Segoe UI Semibold" pitchFamily="34" charset="-120"/>
              </a:rPr>
              <a:t xml:space="preserve">Step 3   </a:t>
            </a:r>
            <a:r>
              <a:rPr lang="en-US" sz="3200" dirty="0">
                <a:solidFill>
                  <a:srgbClr val="242424"/>
                </a:solidFill>
                <a:latin typeface="Segoe UI Semibold" pitchFamily="34" charset="0"/>
                <a:ea typeface="Segoe UI Semibold" pitchFamily="34" charset="-122"/>
                <a:cs typeface="Segoe UI Semibold" pitchFamily="34" charset="-120"/>
              </a:rPr>
              <a:t>Going further: the GitHub Copilot SDK</a:t>
            </a:r>
            <a:endParaRPr lang="en-US" sz="3200" dirty="0"/>
          </a:p>
        </p:txBody>
      </p:sp>
      <p:sp>
        <p:nvSpPr>
          <p:cNvPr id="3" name="Saw card"/>
          <p:cNvSpPr/>
          <p:nvPr/>
        </p:nvSpPr>
        <p:spPr>
          <a:xfrm>
            <a:off x="548640" y="1325880"/>
            <a:ext cx="5134356" cy="24688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4" name="Saw card bar"/>
          <p:cNvSpPr/>
          <p:nvPr/>
        </p:nvSpPr>
        <p:spPr>
          <a:xfrm>
            <a:off x="548640" y="1325880"/>
            <a:ext cx="82296" cy="2468880"/>
          </a:xfrm>
          <a:prstGeom prst="rect">
            <a:avLst/>
          </a:prstGeom>
          <a:solidFill>
            <a:srgbClr val="5C2D91"/>
          </a:solidFill>
          <a:ln w="12700">
            <a:solidFill>
              <a:srgbClr val="5C2D91"/>
            </a:solidFill>
            <a:prstDash val="solid"/>
          </a:ln>
        </p:spPr>
        <p:txBody>
          <a:bodyPr/>
          <a:lstStyle/>
          <a:p>
            <a:endParaRPr lang="en-US"/>
          </a:p>
        </p:txBody>
      </p:sp>
      <p:sp>
        <p:nvSpPr>
          <p:cNvPr id="5" name="Saw label"/>
          <p:cNvSpPr/>
          <p:nvPr/>
        </p:nvSpPr>
        <p:spPr>
          <a:xfrm>
            <a:off x="914400" y="164592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WHAT YOU JUST SAW</a:t>
            </a:r>
            <a:endParaRPr lang="en-US" sz="1300" dirty="0"/>
          </a:p>
        </p:txBody>
      </p:sp>
      <p:sp>
        <p:nvSpPr>
          <p:cNvPr id="6" name="Saw heading"/>
          <p:cNvSpPr/>
          <p:nvPr/>
        </p:nvSpPr>
        <p:spPr>
          <a:xfrm>
            <a:off x="914400" y="1965960"/>
            <a:ext cx="4494276" cy="411480"/>
          </a:xfrm>
          <a:prstGeom prst="rect">
            <a:avLst/>
          </a:prstGeom>
          <a:noFill/>
          <a:ln/>
        </p:spPr>
        <p:txBody>
          <a:bodyPr wrap="square" lIns="0" tIns="0" rIns="0" bIns="0" rtlCol="0" anchor="t"/>
          <a:lstStyle/>
          <a:p>
            <a:pPr marL="0" indent="0">
              <a:buNone/>
            </a:pPr>
            <a:r>
              <a:rPr lang="en-US" sz="2400" dirty="0">
                <a:solidFill>
                  <a:srgbClr val="242424"/>
                </a:solidFill>
                <a:latin typeface="Segoe UI Semibold" pitchFamily="34" charset="0"/>
                <a:ea typeface="Segoe UI Semibold" pitchFamily="34" charset="-122"/>
                <a:cs typeface="Segoe UI Semibold" pitchFamily="34" charset="-120"/>
              </a:rPr>
              <a:t>One question, one tool</a:t>
            </a:r>
            <a:endParaRPr lang="en-US" sz="2400" dirty="0"/>
          </a:p>
        </p:txBody>
      </p:sp>
      <p:sp>
        <p:nvSpPr>
          <p:cNvPr id="7" name="Saw body"/>
          <p:cNvSpPr/>
          <p:nvPr/>
        </p:nvSpPr>
        <p:spPr>
          <a:xfrm>
            <a:off x="914400" y="2468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Segoe UI" pitchFamily="34" charset="0"/>
                <a:ea typeface="Segoe UI" pitchFamily="34" charset="-122"/>
                <a:cs typeface="Segoe UI" pitchFamily="34" charset="-120"/>
              </a:rPr>
              <a:t>In this app, the model asks to run your Java method, then answers your question.</a:t>
            </a:r>
            <a:endParaRPr lang="en-US" sz="1600" dirty="0"/>
          </a:p>
        </p:txBody>
      </p:sp>
      <p:sp>
        <p:nvSpPr>
          <p:cNvPr id="8" name="Saw code"/>
          <p:cNvSpPr/>
          <p:nvPr/>
        </p:nvSpPr>
        <p:spPr>
          <a:xfrm>
            <a:off x="914400" y="3200400"/>
            <a:ext cx="4494276" cy="274320"/>
          </a:xfrm>
          <a:prstGeom prst="rect">
            <a:avLst/>
          </a:prstGeom>
          <a:noFill/>
          <a:ln/>
        </p:spPr>
        <p:txBody>
          <a:bodyPr wrap="square" lIns="0" tIns="0" rIns="0" bIns="0" rtlCol="0" anchor="t"/>
          <a:lstStyle/>
          <a:p>
            <a:pPr marL="0" indent="0">
              <a:buNone/>
            </a:pPr>
            <a:r>
              <a:rPr lang="en-US" sz="1600" dirty="0">
                <a:solidFill>
                  <a:srgbClr val="5C2D91"/>
                </a:solidFill>
                <a:latin typeface="Consolas" pitchFamily="34" charset="0"/>
                <a:ea typeface="Consolas" pitchFamily="34" charset="-122"/>
                <a:cs typeface="Consolas" pitchFamily="34" charset="-120"/>
              </a:rPr>
              <a:t>@Tool</a:t>
            </a:r>
            <a:r>
              <a:rPr lang="en-US" sz="1600" dirty="0">
                <a:solidFill>
                  <a:srgbClr val="242424"/>
                </a:solidFill>
                <a:latin typeface="Consolas" pitchFamily="34" charset="0"/>
                <a:ea typeface="Consolas" pitchFamily="34" charset="-122"/>
                <a:cs typeface="Consolas" pitchFamily="34" charset="-120"/>
              </a:rPr>
              <a:t xml:space="preserve"> listProducts()</a:t>
            </a:r>
            <a:endParaRPr lang="en-US" sz="1600" dirty="0"/>
          </a:p>
        </p:txBody>
      </p:sp>
      <p:cxnSp>
        <p:nvCxnSpPr>
          <p:cNvPr id="9" name="Arrow"/>
          <p:cNvCxnSpPr/>
          <p:nvPr/>
        </p:nvCxnSpPr>
        <p:spPr>
          <a:xfrm>
            <a:off x="5957316" y="2560320"/>
            <a:ext cx="274320" cy="0"/>
          </a:xfrm>
          <a:prstGeom prst="straightConnector1">
            <a:avLst/>
          </a:prstGeom>
          <a:ln w="28575">
            <a:solidFill>
              <a:srgbClr val="5C2D91"/>
            </a:solidFill>
            <a:tailEnd type="triangle" w="med" len="med"/>
          </a:ln>
        </p:spPr>
      </p:cxnSp>
      <p:sp>
        <p:nvSpPr>
          <p:cNvPr id="10" name="SDK card"/>
          <p:cNvSpPr/>
          <p:nvPr/>
        </p:nvSpPr>
        <p:spPr>
          <a:xfrm>
            <a:off x="6505956" y="1325880"/>
            <a:ext cx="5134356" cy="24688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11" name="SDK card bar"/>
          <p:cNvSpPr/>
          <p:nvPr/>
        </p:nvSpPr>
        <p:spPr>
          <a:xfrm>
            <a:off x="6505956" y="1325880"/>
            <a:ext cx="82296" cy="2468880"/>
          </a:xfrm>
          <a:prstGeom prst="rect">
            <a:avLst/>
          </a:prstGeom>
          <a:solidFill>
            <a:srgbClr val="5C2D91"/>
          </a:solidFill>
          <a:ln w="12700">
            <a:solidFill>
              <a:srgbClr val="5C2D91"/>
            </a:solidFill>
            <a:prstDash val="solid"/>
          </a:ln>
        </p:spPr>
        <p:txBody>
          <a:bodyPr/>
          <a:lstStyle/>
          <a:p>
            <a:endParaRPr lang="en-US"/>
          </a:p>
        </p:txBody>
      </p:sp>
      <p:sp>
        <p:nvSpPr>
          <p:cNvPr id="12" name="SDK label"/>
          <p:cNvSpPr/>
          <p:nvPr/>
        </p:nvSpPr>
        <p:spPr>
          <a:xfrm>
            <a:off x="6871716" y="164592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WITH THE COPILOT SDK</a:t>
            </a:r>
            <a:endParaRPr lang="en-US" sz="1300" dirty="0"/>
          </a:p>
        </p:txBody>
      </p:sp>
      <p:sp>
        <p:nvSpPr>
          <p:cNvPr id="13" name="SDK heading"/>
          <p:cNvSpPr/>
          <p:nvPr/>
        </p:nvSpPr>
        <p:spPr>
          <a:xfrm>
            <a:off x="6871716" y="1965960"/>
            <a:ext cx="4494276" cy="411480"/>
          </a:xfrm>
          <a:prstGeom prst="rect">
            <a:avLst/>
          </a:prstGeom>
          <a:noFill/>
          <a:ln/>
        </p:spPr>
        <p:txBody>
          <a:bodyPr wrap="square" lIns="0" tIns="0" rIns="0" bIns="0" rtlCol="0" anchor="t"/>
          <a:lstStyle/>
          <a:p>
            <a:pPr marL="0" indent="0">
              <a:buNone/>
            </a:pPr>
            <a:r>
              <a:rPr lang="en-US" sz="2400" dirty="0">
                <a:solidFill>
                  <a:srgbClr val="242424"/>
                </a:solidFill>
                <a:latin typeface="Segoe UI Semibold" pitchFamily="34" charset="0"/>
                <a:ea typeface="Segoe UI Semibold" pitchFamily="34" charset="-122"/>
                <a:cs typeface="Segoe UI Semibold" pitchFamily="34" charset="-120"/>
              </a:rPr>
              <a:t>One goal, many steps</a:t>
            </a:r>
            <a:endParaRPr lang="en-US" sz="2400" dirty="0"/>
          </a:p>
        </p:txBody>
      </p:sp>
      <p:sp>
        <p:nvSpPr>
          <p:cNvPr id="14" name="SDK body"/>
          <p:cNvSpPr/>
          <p:nvPr/>
        </p:nvSpPr>
        <p:spPr>
          <a:xfrm>
            <a:off x="6871716" y="2468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Segoe UI" pitchFamily="34" charset="0"/>
                <a:ea typeface="Segoe UI" pitchFamily="34" charset="-122"/>
                <a:cs typeface="Segoe UI" pitchFamily="34" charset="-120"/>
              </a:rPr>
              <a:t>Copilot's agent runs in your app. It plans and calls your Java tools until the job is done.</a:t>
            </a:r>
            <a:endParaRPr lang="en-US" sz="1600" dirty="0"/>
          </a:p>
        </p:txBody>
      </p:sp>
      <p:sp>
        <p:nvSpPr>
          <p:cNvPr id="15" name="SDK code"/>
          <p:cNvSpPr/>
          <p:nvPr/>
        </p:nvSpPr>
        <p:spPr>
          <a:xfrm>
            <a:off x="6871716" y="3200400"/>
            <a:ext cx="4494276" cy="274320"/>
          </a:xfrm>
          <a:prstGeom prst="rect">
            <a:avLst/>
          </a:prstGeom>
          <a:noFill/>
          <a:ln/>
        </p:spPr>
        <p:txBody>
          <a:bodyPr wrap="square" lIns="0" tIns="0" rIns="0" bIns="0" rtlCol="0" anchor="t"/>
          <a:lstStyle/>
          <a:p>
            <a:pPr marL="0" indent="0">
              <a:buNone/>
            </a:pPr>
            <a:r>
              <a:rPr lang="en-US" sz="1600" dirty="0">
                <a:solidFill>
                  <a:srgbClr val="5C2D91"/>
                </a:solidFill>
                <a:latin typeface="Consolas" pitchFamily="34" charset="0"/>
                <a:ea typeface="Consolas" pitchFamily="34" charset="-122"/>
                <a:cs typeface="Consolas" pitchFamily="34" charset="-120"/>
              </a:rPr>
              <a:t>@CopilotTool</a:t>
            </a:r>
            <a:r>
              <a:rPr lang="en-US" sz="1600" dirty="0">
                <a:solidFill>
                  <a:srgbClr val="242424"/>
                </a:solidFill>
                <a:latin typeface="Consolas" pitchFamily="34" charset="0"/>
                <a:ea typeface="Consolas" pitchFamily="34" charset="-122"/>
                <a:cs typeface="Consolas" pitchFamily="34" charset="-120"/>
              </a:rPr>
              <a:t xml:space="preserve"> listProducts()</a:t>
            </a:r>
            <a:endParaRPr lang="en-US" sz="1600" dirty="0"/>
          </a:p>
        </p:txBody>
      </p:sp>
      <p:sp>
        <p:nvSpPr>
          <p:cNvPr id="16" name="Java card"/>
          <p:cNvSpPr/>
          <p:nvPr/>
        </p:nvSpPr>
        <p:spPr>
          <a:xfrm>
            <a:off x="548640" y="4114800"/>
            <a:ext cx="11091672" cy="1554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17" name="Java card bar"/>
          <p:cNvSpPr/>
          <p:nvPr/>
        </p:nvSpPr>
        <p:spPr>
          <a:xfrm>
            <a:off x="548640" y="4114800"/>
            <a:ext cx="82296" cy="1554480"/>
          </a:xfrm>
          <a:prstGeom prst="rect">
            <a:avLst/>
          </a:prstGeom>
          <a:solidFill>
            <a:srgbClr val="5C2D91"/>
          </a:solidFill>
          <a:ln w="12700">
            <a:solidFill>
              <a:srgbClr val="5C2D91"/>
            </a:solidFill>
            <a:prstDash val="solid"/>
          </a:ln>
        </p:spPr>
        <p:txBody>
          <a:bodyPr/>
          <a:lstStyle/>
          <a:p>
            <a:endParaRPr lang="en-US"/>
          </a:p>
        </p:txBody>
      </p:sp>
      <p:sp>
        <p:nvSpPr>
          <p:cNvPr id="18" name="Maven label"/>
          <p:cNvSpPr/>
          <p:nvPr/>
        </p:nvSpPr>
        <p:spPr>
          <a:xfrm>
            <a:off x="914400" y="443484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MAVEN DEPENDENCIES</a:t>
            </a:r>
            <a:endParaRPr lang="en-US" sz="1300" dirty="0"/>
          </a:p>
        </p:txBody>
      </p:sp>
      <p:sp>
        <p:nvSpPr>
          <p:cNvPr id="19" name="Maven artifact"/>
          <p:cNvSpPr/>
          <p:nvPr/>
        </p:nvSpPr>
        <p:spPr>
          <a:xfrm>
            <a:off x="914400" y="4754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Consolas" pitchFamily="34" charset="0"/>
                <a:ea typeface="Consolas" pitchFamily="34" charset="-122"/>
                <a:cs typeface="Consolas" pitchFamily="34" charset="-120"/>
              </a:rPr>
              <a:t>com.github:copilot-sdk-java</a:t>
            </a:r>
          </a:p>
          <a:p>
            <a:pPr marL="0" indent="0">
              <a:buNone/>
            </a:pPr>
            <a:r>
              <a:rPr lang="en-US" sz="1600" dirty="0">
                <a:solidFill>
                  <a:srgbClr val="242424"/>
                </a:solidFill>
                <a:latin typeface="Consolas" pitchFamily="34" charset="0"/>
                <a:ea typeface="Consolas" pitchFamily="34" charset="-122"/>
                <a:cs typeface="Consolas" pitchFamily="34" charset="-120"/>
              </a:rPr>
              <a:t>com.github:copilot-sdk-java-runtime</a:t>
            </a:r>
            <a:endParaRPr lang="en-US" sz="1600" dirty="0"/>
          </a:p>
        </p:txBody>
      </p:sp>
      <p:sp>
        <p:nvSpPr>
          <p:cNvPr id="20" name="Works with label"/>
          <p:cNvSpPr/>
          <p:nvPr/>
        </p:nvSpPr>
        <p:spPr>
          <a:xfrm>
            <a:off x="6871716" y="443484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WORKS WITH</a:t>
            </a:r>
            <a:endParaRPr lang="en-US" sz="1300" dirty="0"/>
          </a:p>
        </p:txBody>
      </p:sp>
      <p:sp>
        <p:nvSpPr>
          <p:cNvPr id="21" name="Works with text"/>
          <p:cNvSpPr/>
          <p:nvPr/>
        </p:nvSpPr>
        <p:spPr>
          <a:xfrm>
            <a:off x="6871716" y="4754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Segoe UI" pitchFamily="34" charset="0"/>
                <a:ea typeface="Segoe UI" pitchFamily="34" charset="-122"/>
                <a:cs typeface="Segoe UI" pitchFamily="34" charset="-120"/>
              </a:rPr>
              <a:t>Your own Foundry model with managed identity: no keys. Or a GitHub Copilot subscription.</a:t>
            </a:r>
            <a:endParaRPr lang="en-US" sz="1600" dirty="0"/>
          </a:p>
        </p:txBody>
      </p:sp>
      <p:sp>
        <p:nvSpPr>
          <p:cNvPr id="22" name="Footnote"/>
          <p:cNvSpPr/>
          <p:nvPr/>
        </p:nvSpPr>
        <p:spPr>
          <a:xfrm>
            <a:off x="548640" y="5943600"/>
            <a:ext cx="11091672" cy="274320"/>
          </a:xfrm>
          <a:prstGeom prst="rect">
            <a:avLst/>
          </a:prstGeom>
          <a:noFill/>
          <a:ln/>
        </p:spPr>
        <p:txBody>
          <a:bodyPr wrap="square" lIns="0" tIns="0" rIns="0" bIns="0" rtlCol="0" anchor="t"/>
          <a:lstStyle/>
          <a:p>
            <a:pPr marL="0" indent="0">
              <a:buNone/>
            </a:pPr>
            <a:r>
              <a:rPr lang="en-US" sz="1200" dirty="0">
                <a:solidFill>
                  <a:srgbClr val="5C5C5C"/>
                </a:solidFill>
                <a:latin typeface="Segoe UI" pitchFamily="34" charset="0"/>
                <a:ea typeface="Segoe UI" pitchFamily="34" charset="-122"/>
                <a:cs typeface="Segoe UI" pitchFamily="34" charset="-120"/>
              </a:rPr>
              <a:t>See it working in the step-3-copilot-sdk folder. The SDK's Java releases are still labeled preview. Learn more at github.com/github/copilot-sdk</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Copilot SDK question">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5C2D91"/>
                </a:solidFill>
                <a:latin typeface="Segoe UI Semibold" pitchFamily="34" charset="0"/>
                <a:ea typeface="Segoe UI Semibold" pitchFamily="34" charset="-122"/>
                <a:cs typeface="Segoe UI Semibold" pitchFamily="34" charset="-120"/>
              </a:rPr>
              <a:t xml:space="preserve">Step 3   </a:t>
            </a:r>
            <a:r>
              <a:rPr lang="en-US" sz="3200" dirty="0">
                <a:solidFill>
                  <a:srgbClr val="242424"/>
                </a:solidFill>
                <a:latin typeface="Segoe UI Semibold" pitchFamily="34" charset="0"/>
                <a:ea typeface="Segoe UI Semibold" pitchFamily="34" charset="-122"/>
                <a:cs typeface="Segoe UI Semibold" pitchFamily="34" charset="-120"/>
              </a:rPr>
              <a:t>How the Copilot SDK answers a question</a:t>
            </a:r>
            <a:endParaRPr lang="en-US" sz="3200" dirty="0"/>
          </a:p>
        </p:txBody>
      </p:sp>
      <p:pic>
        <p:nvPicPr>
          <p:cNvPr id="3" name="Image 0" descr="Ten numbered messages between you, the app, Copilot's agent, the listProducts tool and the model: the app hands the question to Copilot's agent, which calls the model twice and has the SDK run the Java tool once, then hands the answer back"/>
          <p:cNvPicPr>
            <a:picLocks noChangeAspect="1"/>
          </p:cNvPicPr>
          <p:nvPr/>
        </p:nvPicPr>
        <p:blipFill>
          <a:blip r:embed="rId3"/>
          <a:stretch>
            <a:fillRect/>
          </a:stretch>
        </p:blipFill>
        <p:spPr>
          <a:xfrm>
            <a:off x="598322" y="1051560"/>
            <a:ext cx="10995355" cy="5349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107C10"/>
                </a:solidFill>
                <a:latin typeface="Segoe UI Semibold" pitchFamily="34" charset="0"/>
                <a:ea typeface="Segoe UI Semibold" pitchFamily="34" charset="-122"/>
                <a:cs typeface="Segoe UI Semibold" pitchFamily="34" charset="-120"/>
              </a:rPr>
              <a:t xml:space="preserve">Step 4   </a:t>
            </a:r>
            <a:r>
              <a:rPr lang="en-US" sz="3200" dirty="0">
                <a:solidFill>
                  <a:srgbClr val="242424"/>
                </a:solidFill>
                <a:latin typeface="Segoe UI Semibold" pitchFamily="34" charset="0"/>
                <a:ea typeface="Segoe UI Semibold" pitchFamily="34" charset="-122"/>
                <a:cs typeface="Segoe UI Semibold" pitchFamily="34" charset="-120"/>
              </a:rPr>
              <a:t>How traces get to Application Insights</a:t>
            </a:r>
            <a:endParaRPr lang="en-US" sz="3200" dirty="0"/>
          </a:p>
        </p:txBody>
      </p:sp>
      <p:pic>
        <p:nvPicPr>
          <p:cNvPr id="3" name="Image 0" descr="The app sends traces to the Container Apps environment, which forwards them to Application Insights, where you can query tokens and cost or open one question as a timeline"/>
          <p:cNvPicPr>
            <a:picLocks noChangeAspect="1"/>
          </p:cNvPicPr>
          <p:nvPr/>
        </p:nvPicPr>
        <p:blipFill>
          <a:blip r:embed="rId3"/>
          <a:stretch>
            <a:fillRect/>
          </a:stretch>
        </p:blipFill>
        <p:spPr>
          <a:xfrm>
            <a:off x="365760" y="1401693"/>
            <a:ext cx="11457432" cy="3505974"/>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107C10"/>
          </a:solidFill>
          <a:ln w="12700">
            <a:solidFill>
              <a:srgbClr val="107C10"/>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pom.xml   application.properties   infra/app.bicep</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many model calls does one product question make, and why?</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About how much does one question cost?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107C10"/>
                </a:solidFill>
                <a:latin typeface="Segoe UI Semibold" pitchFamily="34" charset="0"/>
                <a:ea typeface="Segoe UI Semibold" pitchFamily="34" charset="-122"/>
                <a:cs typeface="Segoe UI Semibold" pitchFamily="34" charset="-120"/>
              </a:rPr>
              <a:t xml:space="preserve">Step 4   </a:t>
            </a:r>
            <a:r>
              <a:rPr lang="en-US" sz="3200" dirty="0">
                <a:solidFill>
                  <a:srgbClr val="242424"/>
                </a:solidFill>
                <a:latin typeface="Segoe UI Semibold" pitchFamily="34" charset="0"/>
                <a:ea typeface="Segoe UI Semibold" pitchFamily="34" charset="-122"/>
                <a:cs typeface="Segoe UI Semibold" pitchFamily="34" charset="-120"/>
              </a:rPr>
              <a:t>One question, as a trace</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marL="0" indent="0">
              <a:buNone/>
            </a:pPr>
            <a:r>
              <a:rPr lang="en-US" sz="1600" dirty="0">
                <a:solidFill>
                  <a:srgbClr val="5C5C5C"/>
                </a:solidFill>
                <a:latin typeface="Segoe UI" pitchFamily="34" charset="0"/>
                <a:ea typeface="Segoe UI" pitchFamily="34" charset="-122"/>
                <a:cs typeface="Segoe UI" pitchFamily="34" charset="-120"/>
              </a:rPr>
              <a:t>“Is the Summit Waterproof Jacket in stock?” Real data from step 4.</a:t>
            </a:r>
            <a:endParaRPr lang="en-US" sz="1600" dirty="0"/>
          </a:p>
        </p:txBody>
      </p:sp>
      <p:pic>
        <p:nvPicPr>
          <p:cNvPr id="4" name="Image 0" descr="A 3.5-second request with a 1.5-second model call, a 1-millisecond tool call and a 1.9-second model call, using 549 input and 52 output tokens for $0.000081"/>
          <p:cNvPicPr>
            <a:picLocks noChangeAspect="1"/>
          </p:cNvPicPr>
          <p:nvPr/>
        </p:nvPicPr>
        <p:blipFill>
          <a:blip r:embed="rId3"/>
          <a:stretch>
            <a:fillRect/>
          </a:stretch>
        </p:blipFill>
        <p:spPr>
          <a:xfrm>
            <a:off x="195682" y="1464535"/>
            <a:ext cx="11731752" cy="3883210"/>
          </a:xfrm>
          <a:prstGeom prst="rect">
            <a:avLst/>
          </a:prstGeom>
        </p:spPr>
      </p:pic>
      <p:sp>
        <p:nvSpPr>
          <p:cNvPr id="5" name="Text 2"/>
          <p:cNvSpPr/>
          <p:nvPr/>
        </p:nvSpPr>
        <p:spPr>
          <a:xfrm>
            <a:off x="548640" y="5577840"/>
            <a:ext cx="11064240" cy="457200"/>
          </a:xfrm>
          <a:prstGeom prst="rect">
            <a:avLst/>
          </a:prstGeom>
          <a:noFill/>
          <a:ln/>
        </p:spPr>
        <p:txBody>
          <a:bodyPr wrap="square" lIns="0" tIns="0" rIns="0" bIns="0" rtlCol="0" anchor="ctr"/>
          <a:lstStyle/>
          <a:p>
            <a:pPr marL="0" indent="0">
              <a:buNone/>
            </a:pPr>
            <a:r>
              <a:rPr lang="en-US" sz="1800" dirty="0">
                <a:solidFill>
                  <a:srgbClr val="242424"/>
                </a:solidFill>
                <a:latin typeface="Segoe UI" pitchFamily="34" charset="0"/>
                <a:ea typeface="Segoe UI" pitchFamily="34" charset="-122"/>
                <a:cs typeface="Segoe UI" pitchFamily="34" charset="-120"/>
              </a:rPr>
              <a:t>Your Java method takes 1 ms. The model is where the time, and the cost, goes.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Cost-aware by design</a:t>
            </a:r>
            <a:endParaRPr lang="en-US" sz="3200" dirty="0"/>
          </a:p>
        </p:txBody>
      </p:sp>
      <p:sp>
        <p:nvSpPr>
          <p:cNvPr id="3" name="Shape 1"/>
          <p:cNvSpPr/>
          <p:nvPr/>
        </p:nvSpPr>
        <p:spPr>
          <a:xfrm>
            <a:off x="548640" y="132588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4" name="Shape 2"/>
          <p:cNvSpPr/>
          <p:nvPr/>
        </p:nvSpPr>
        <p:spPr>
          <a:xfrm>
            <a:off x="548640" y="1325880"/>
            <a:ext cx="82296" cy="2057400"/>
          </a:xfrm>
          <a:prstGeom prst="rect">
            <a:avLst/>
          </a:prstGeom>
          <a:solidFill>
            <a:srgbClr val="B11F4B"/>
          </a:solidFill>
          <a:ln w="12700">
            <a:solidFill>
              <a:srgbClr val="B11F4B"/>
            </a:solidFill>
            <a:prstDash val="solid"/>
          </a:ln>
        </p:spPr>
        <p:txBody>
          <a:bodyPr/>
          <a:lstStyle/>
          <a:p>
            <a:endParaRPr lang="en-ZA"/>
          </a:p>
        </p:txBody>
      </p:sp>
      <p:sp>
        <p:nvSpPr>
          <p:cNvPr id="5" name="Text 3"/>
          <p:cNvSpPr/>
          <p:nvPr/>
        </p:nvSpPr>
        <p:spPr>
          <a:xfrm>
            <a:off x="914400" y="149047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$0.00008</a:t>
            </a:r>
            <a:endParaRPr lang="en-US" sz="5400" dirty="0"/>
          </a:p>
        </p:txBody>
      </p:sp>
      <p:sp>
        <p:nvSpPr>
          <p:cNvPr id="6" name="Text 4"/>
          <p:cNvSpPr/>
          <p:nvPr/>
        </p:nvSpPr>
        <p:spPr>
          <a:xfrm>
            <a:off x="914400" y="237744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per question</a:t>
            </a:r>
            <a:endParaRPr lang="en-US" sz="1800" dirty="0"/>
          </a:p>
        </p:txBody>
      </p:sp>
      <p:sp>
        <p:nvSpPr>
          <p:cNvPr id="7" name="Text 5"/>
          <p:cNvSpPr/>
          <p:nvPr/>
        </p:nvSpPr>
        <p:spPr>
          <a:xfrm>
            <a:off x="914400" y="276148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About 540 tokens in and 50 tokens out, on average</a:t>
            </a:r>
            <a:endParaRPr lang="en-US" sz="1400" dirty="0"/>
          </a:p>
        </p:txBody>
      </p:sp>
      <p:sp>
        <p:nvSpPr>
          <p:cNvPr id="8" name="Shape 6"/>
          <p:cNvSpPr/>
          <p:nvPr/>
        </p:nvSpPr>
        <p:spPr>
          <a:xfrm>
            <a:off x="6245352" y="132588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9" name="Shape 7"/>
          <p:cNvSpPr/>
          <p:nvPr/>
        </p:nvSpPr>
        <p:spPr>
          <a:xfrm>
            <a:off x="6245352" y="1325880"/>
            <a:ext cx="82296" cy="2057400"/>
          </a:xfrm>
          <a:prstGeom prst="rect">
            <a:avLst/>
          </a:prstGeom>
          <a:solidFill>
            <a:srgbClr val="B11F4B"/>
          </a:solidFill>
          <a:ln w="12700">
            <a:solidFill>
              <a:srgbClr val="B11F4B"/>
            </a:solidFill>
            <a:prstDash val="solid"/>
          </a:ln>
        </p:spPr>
        <p:txBody>
          <a:bodyPr/>
          <a:lstStyle/>
          <a:p>
            <a:endParaRPr lang="en-ZA"/>
          </a:p>
        </p:txBody>
      </p:sp>
      <p:sp>
        <p:nvSpPr>
          <p:cNvPr id="10" name="Text 8"/>
          <p:cNvSpPr/>
          <p:nvPr/>
        </p:nvSpPr>
        <p:spPr>
          <a:xfrm>
            <a:off x="6611112" y="149047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$0.08</a:t>
            </a:r>
            <a:endParaRPr lang="en-US" sz="5400" dirty="0"/>
          </a:p>
        </p:txBody>
      </p:sp>
      <p:sp>
        <p:nvSpPr>
          <p:cNvPr id="11" name="Text 9"/>
          <p:cNvSpPr/>
          <p:nvPr/>
        </p:nvSpPr>
        <p:spPr>
          <a:xfrm>
            <a:off x="6611112" y="237744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per 1,000 questions</a:t>
            </a:r>
            <a:endParaRPr lang="en-US" sz="1800" dirty="0"/>
          </a:p>
        </p:txBody>
      </p:sp>
      <p:sp>
        <p:nvSpPr>
          <p:cNvPr id="12" name="Text 10"/>
          <p:cNvSpPr/>
          <p:nvPr/>
        </p:nvSpPr>
        <p:spPr>
          <a:xfrm>
            <a:off x="6611112" y="276148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At $0.10 per 1M tokens in and $0.50 per 1M tokens out</a:t>
            </a:r>
            <a:endParaRPr lang="en-US" sz="1400" dirty="0"/>
          </a:p>
        </p:txBody>
      </p:sp>
      <p:sp>
        <p:nvSpPr>
          <p:cNvPr id="13" name="Shape 11"/>
          <p:cNvSpPr/>
          <p:nvPr/>
        </p:nvSpPr>
        <p:spPr>
          <a:xfrm>
            <a:off x="548640" y="365760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4" name="Shape 12"/>
          <p:cNvSpPr/>
          <p:nvPr/>
        </p:nvSpPr>
        <p:spPr>
          <a:xfrm>
            <a:off x="548640" y="3657600"/>
            <a:ext cx="82296" cy="2057400"/>
          </a:xfrm>
          <a:prstGeom prst="rect">
            <a:avLst/>
          </a:prstGeom>
          <a:solidFill>
            <a:srgbClr val="B11F4B"/>
          </a:solidFill>
          <a:ln w="12700">
            <a:solidFill>
              <a:srgbClr val="B11F4B"/>
            </a:solidFill>
            <a:prstDash val="solid"/>
          </a:ln>
        </p:spPr>
        <p:txBody>
          <a:bodyPr/>
          <a:lstStyle/>
          <a:p>
            <a:endParaRPr lang="en-ZA"/>
          </a:p>
        </p:txBody>
      </p:sp>
      <p:sp>
        <p:nvSpPr>
          <p:cNvPr id="15" name="Text 13"/>
          <p:cNvSpPr/>
          <p:nvPr/>
        </p:nvSpPr>
        <p:spPr>
          <a:xfrm>
            <a:off x="914400" y="382219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a:t>
            </a:r>
            <a:endParaRPr lang="en-US" sz="5400" dirty="0"/>
          </a:p>
        </p:txBody>
      </p:sp>
      <p:sp>
        <p:nvSpPr>
          <p:cNvPr id="16" name="Text 14"/>
          <p:cNvSpPr/>
          <p:nvPr/>
        </p:nvSpPr>
        <p:spPr>
          <a:xfrm>
            <a:off x="914400" y="470916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while nobody uses it</a:t>
            </a:r>
            <a:endParaRPr lang="en-US" sz="1800" dirty="0"/>
          </a:p>
        </p:txBody>
      </p:sp>
      <p:sp>
        <p:nvSpPr>
          <p:cNvPr id="17" name="Text 15"/>
          <p:cNvSpPr/>
          <p:nvPr/>
        </p:nvSpPr>
        <p:spPr>
          <a:xfrm>
            <a:off x="914400" y="509320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apps scale to zero when they're idle</a:t>
            </a:r>
            <a:endParaRPr lang="en-US" sz="1400" dirty="0"/>
          </a:p>
        </p:txBody>
      </p:sp>
      <p:sp>
        <p:nvSpPr>
          <p:cNvPr id="18" name="Shape 16"/>
          <p:cNvSpPr/>
          <p:nvPr/>
        </p:nvSpPr>
        <p:spPr>
          <a:xfrm>
            <a:off x="6245352" y="365760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7"/>
          <p:cNvSpPr/>
          <p:nvPr/>
        </p:nvSpPr>
        <p:spPr>
          <a:xfrm>
            <a:off x="6245352" y="3657600"/>
            <a:ext cx="82296" cy="2057400"/>
          </a:xfrm>
          <a:prstGeom prst="rect">
            <a:avLst/>
          </a:prstGeom>
          <a:solidFill>
            <a:srgbClr val="B11F4B"/>
          </a:solidFill>
          <a:ln w="12700">
            <a:solidFill>
              <a:srgbClr val="B11F4B"/>
            </a:solidFill>
            <a:prstDash val="solid"/>
          </a:ln>
        </p:spPr>
        <p:txBody>
          <a:bodyPr/>
          <a:lstStyle/>
          <a:p>
            <a:endParaRPr lang="en-ZA"/>
          </a:p>
        </p:txBody>
      </p:sp>
      <p:sp>
        <p:nvSpPr>
          <p:cNvPr id="20" name="Text 18"/>
          <p:cNvSpPr/>
          <p:nvPr/>
        </p:nvSpPr>
        <p:spPr>
          <a:xfrm>
            <a:off x="6611112" y="382219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$5</a:t>
            </a:r>
            <a:endParaRPr lang="en-US" sz="5400" dirty="0"/>
          </a:p>
        </p:txBody>
      </p:sp>
      <p:sp>
        <p:nvSpPr>
          <p:cNvPr id="21" name="Text 19"/>
          <p:cNvSpPr/>
          <p:nvPr/>
        </p:nvSpPr>
        <p:spPr>
          <a:xfrm>
            <a:off x="6611112" y="470916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a month per container registry</a:t>
            </a:r>
            <a:endParaRPr lang="en-US" sz="1800" dirty="0"/>
          </a:p>
        </p:txBody>
      </p:sp>
      <p:sp>
        <p:nvSpPr>
          <p:cNvPr id="22" name="Text 20"/>
          <p:cNvSpPr/>
          <p:nvPr/>
        </p:nvSpPr>
        <p:spPr>
          <a:xfrm>
            <a:off x="6611112" y="509320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main fixed cost for each step you deploy</a:t>
            </a:r>
            <a:endParaRPr lang="en-US" sz="1400" dirty="0"/>
          </a:p>
        </p:txBody>
      </p:sp>
      <p:sp>
        <p:nvSpPr>
          <p:cNvPr id="23" name="Text 21"/>
          <p:cNvSpPr/>
          <p:nvPr/>
        </p:nvSpPr>
        <p:spPr>
          <a:xfrm>
            <a:off x="548640" y="5943600"/>
            <a:ext cx="11091672" cy="457200"/>
          </a:xfrm>
          <a:prstGeom prst="rect">
            <a:avLst/>
          </a:prstGeom>
          <a:noFill/>
          <a:ln/>
        </p:spPr>
        <p:txBody>
          <a:bodyPr wrap="square" lIns="0" tIns="0" rIns="0" bIns="0" rtlCol="0" anchor="t"/>
          <a:lstStyle/>
          <a:p>
            <a:pPr marL="0" indent="0">
              <a:buNone/>
            </a:pPr>
            <a:r>
              <a:rPr lang="en-US" sz="1200" dirty="0">
                <a:solidFill>
                  <a:srgbClr val="5C5C5C"/>
                </a:solidFill>
                <a:latin typeface="Segoe UI" pitchFamily="34" charset="0"/>
                <a:ea typeface="Segoe UI" pitchFamily="34" charset="-122"/>
                <a:cs typeface="Segoe UI" pitchFamily="34" charset="-120"/>
              </a:rPr>
              <a:t>Azure retail prices for Sweden Central, checked on 22 October 2026.</a:t>
            </a:r>
            <a:endParaRPr lang="en-US" sz="1200" dirty="0"/>
          </a:p>
          <a:p>
            <a:pPr marL="0" indent="0">
              <a:buNone/>
            </a:pPr>
            <a:r>
              <a:rPr lang="en-US" sz="1200" dirty="0">
                <a:solidFill>
                  <a:srgbClr val="5C5C5C"/>
                </a:solidFill>
                <a:latin typeface="Segoe UI" pitchFamily="34" charset="0"/>
                <a:ea typeface="Segoe UI" pitchFamily="34" charset="-122"/>
                <a:cs typeface="Segoe UI" pitchFamily="34" charset="-120"/>
              </a:rPr>
              <a:t>The model accepts at most 30 requests and 30,000 tokens a minute, so it costs at most about $0.90 an hour.</a:t>
            </a:r>
            <a:endParaRPr lang="en-US" sz="12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F"/>
        </a:solidFill>
        <a:effectLst/>
      </p:bgPr>
    </p:bg>
    <p:spTree>
      <p:nvGrpSpPr>
        <p:cNvPr id="1" name=""/>
        <p:cNvGrpSpPr/>
        <p:nvPr/>
      </p:nvGrpSpPr>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What each step costs</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marL="0" indent="0">
              <a:buNone/>
            </a:pPr>
            <a:r>
              <a:rPr lang="en-US" sz="1600" dirty="0">
                <a:solidFill>
                  <a:srgbClr val="5C5C5C"/>
                </a:solidFill>
                <a:latin typeface="Segoe UI" pitchFamily="34" charset="0"/>
                <a:ea typeface="Segoe UI" pitchFamily="34" charset="-122"/>
                <a:cs typeface="Segoe UI" pitchFamily="34" charset="-120"/>
              </a:rPr>
              <a:t>One month with 10 busy hours and 9,000 questions</a:t>
            </a:r>
            <a:endParaRPr lang="en-US" sz="1600" dirty="0"/>
          </a:p>
        </p:txBody>
      </p:sp>
      <p:pic>
        <p:nvPicPr>
          <p:cNvPr id="4" name="Image 0" descr="Monthly cost of each step: step 1 $0, step 2 $5.54, steps 3 and 4 $6.79 each. The container registry is $5 of each deployed step, and tokens add $0.71."/>
          <p:cNvPicPr>
            <a:picLocks noChangeAspect="1"/>
          </p:cNvPicPr>
          <p:nvPr/>
        </p:nvPicPr>
        <p:blipFill>
          <a:blip r:embed="rId2"/>
          <a:stretch>
            <a:fillRect/>
          </a:stretch>
        </p:blipFill>
        <p:spPr>
          <a:xfrm>
            <a:off x="548640" y="1417320"/>
            <a:ext cx="11064240" cy="4846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Check your answers</a:t>
            </a:r>
            <a:endParaRPr lang="en-US" sz="3200" dirty="0"/>
          </a:p>
        </p:txBody>
      </p:sp>
      <p:sp>
        <p:nvSpPr>
          <p:cNvPr id="3" name="Shape 1"/>
          <p:cNvSpPr/>
          <p:nvPr/>
        </p:nvSpPr>
        <p:spPr>
          <a:xfrm>
            <a:off x="548640" y="132588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4" name="Shape 2"/>
          <p:cNvSpPr/>
          <p:nvPr/>
        </p:nvSpPr>
        <p:spPr>
          <a:xfrm>
            <a:off x="548640" y="1325880"/>
            <a:ext cx="82296" cy="1005840"/>
          </a:xfrm>
          <a:prstGeom prst="rect">
            <a:avLst/>
          </a:prstGeom>
          <a:solidFill>
            <a:srgbClr val="B11F4B"/>
          </a:solidFill>
          <a:ln w="12700">
            <a:solidFill>
              <a:srgbClr val="B11F4B"/>
            </a:solidFill>
            <a:prstDash val="solid"/>
          </a:ln>
        </p:spPr>
        <p:txBody>
          <a:bodyPr/>
          <a:lstStyle/>
          <a:p>
            <a:endParaRPr lang="en-ZA"/>
          </a:p>
        </p:txBody>
      </p:sp>
      <p:sp>
        <p:nvSpPr>
          <p:cNvPr id="5" name="Text 3"/>
          <p:cNvSpPr/>
          <p:nvPr/>
        </p:nvSpPr>
        <p:spPr>
          <a:xfrm>
            <a:off x="868680" y="1463040"/>
            <a:ext cx="39319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STEP 1</a:t>
            </a:r>
            <a:endParaRPr lang="en-US" sz="1300" dirty="0"/>
          </a:p>
        </p:txBody>
      </p:sp>
      <p:sp>
        <p:nvSpPr>
          <p:cNvPr id="6" name="Text 4"/>
          <p:cNvSpPr/>
          <p:nvPr/>
        </p:nvSpPr>
        <p:spPr>
          <a:xfrm>
            <a:off x="868680" y="175564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How many products?</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Which one is out of stock?</a:t>
            </a:r>
            <a:endParaRPr lang="en-US" sz="1500" dirty="0"/>
          </a:p>
        </p:txBody>
      </p:sp>
      <p:sp>
        <p:nvSpPr>
          <p:cNvPr id="7" name="Text 5"/>
          <p:cNvSpPr/>
          <p:nvPr/>
        </p:nvSpPr>
        <p:spPr>
          <a:xfrm>
            <a:off x="5120640" y="175564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Six. The Summit Waterproof Jacket has 0 in stock.</a:t>
            </a:r>
            <a:endParaRPr lang="en-US" sz="1500" dirty="0"/>
          </a:p>
        </p:txBody>
      </p:sp>
      <p:sp>
        <p:nvSpPr>
          <p:cNvPr id="8" name="Shape 6"/>
          <p:cNvSpPr/>
          <p:nvPr/>
        </p:nvSpPr>
        <p:spPr>
          <a:xfrm>
            <a:off x="548640" y="260604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9" name="Shape 7"/>
          <p:cNvSpPr/>
          <p:nvPr/>
        </p:nvSpPr>
        <p:spPr>
          <a:xfrm>
            <a:off x="548640" y="2606040"/>
            <a:ext cx="82296" cy="100584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868680" y="2743200"/>
            <a:ext cx="393192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STEP 2</a:t>
            </a:r>
            <a:endParaRPr lang="en-US" sz="1300" dirty="0"/>
          </a:p>
        </p:txBody>
      </p:sp>
      <p:sp>
        <p:nvSpPr>
          <p:cNvPr id="11" name="Text 9"/>
          <p:cNvSpPr/>
          <p:nvPr/>
        </p:nvSpPr>
        <p:spPr>
          <a:xfrm>
            <a:off x="868680" y="303580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Scale to zero?</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Pull the image without a password?</a:t>
            </a:r>
            <a:endParaRPr lang="en-US" sz="1500" dirty="0"/>
          </a:p>
        </p:txBody>
      </p:sp>
      <p:sp>
        <p:nvSpPr>
          <p:cNvPr id="12" name="Text 10"/>
          <p:cNvSpPr/>
          <p:nvPr/>
        </p:nvSpPr>
        <p:spPr>
          <a:xfrm>
            <a:off x="5120640" y="303580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Consolas" pitchFamily="34" charset="0"/>
                <a:ea typeface="Consolas" pitchFamily="34" charset="-122"/>
                <a:cs typeface="Consolas" pitchFamily="34" charset="-120"/>
              </a:rPr>
              <a:t>minReplicas: 0</a:t>
            </a:r>
            <a:r>
              <a:rPr lang="en-US" sz="1500" dirty="0">
                <a:solidFill>
                  <a:srgbClr val="242424"/>
                </a:solidFill>
                <a:latin typeface="Segoe UI" pitchFamily="34" charset="0"/>
                <a:ea typeface="Segoe UI" pitchFamily="34" charset="-122"/>
                <a:cs typeface="Segoe UI" pitchFamily="34" charset="-120"/>
              </a:rPr>
              <a:t>. The managed identity has the AcrPull role.</a:t>
            </a:r>
            <a:endParaRPr lang="en-US" sz="1500" dirty="0"/>
          </a:p>
        </p:txBody>
      </p:sp>
      <p:sp>
        <p:nvSpPr>
          <p:cNvPr id="13" name="Shape 11"/>
          <p:cNvSpPr/>
          <p:nvPr/>
        </p:nvSpPr>
        <p:spPr>
          <a:xfrm>
            <a:off x="548640" y="388620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4" name="Shape 12"/>
          <p:cNvSpPr/>
          <p:nvPr/>
        </p:nvSpPr>
        <p:spPr>
          <a:xfrm>
            <a:off x="548640" y="3886200"/>
            <a:ext cx="82296" cy="1005840"/>
          </a:xfrm>
          <a:prstGeom prst="rect">
            <a:avLst/>
          </a:prstGeom>
          <a:solidFill>
            <a:srgbClr val="5C2D91"/>
          </a:solidFill>
          <a:ln w="12700">
            <a:solidFill>
              <a:srgbClr val="5C2D91"/>
            </a:solidFill>
            <a:prstDash val="solid"/>
          </a:ln>
        </p:spPr>
        <p:txBody>
          <a:bodyPr/>
          <a:lstStyle/>
          <a:p>
            <a:endParaRPr lang="en-ZA"/>
          </a:p>
        </p:txBody>
      </p:sp>
      <p:sp>
        <p:nvSpPr>
          <p:cNvPr id="15" name="Text 13"/>
          <p:cNvSpPr/>
          <p:nvPr/>
        </p:nvSpPr>
        <p:spPr>
          <a:xfrm>
            <a:off x="868680" y="4023360"/>
            <a:ext cx="3931920"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STEP 3</a:t>
            </a:r>
            <a:endParaRPr lang="en-US" sz="1300" dirty="0"/>
          </a:p>
        </p:txBody>
      </p:sp>
      <p:sp>
        <p:nvSpPr>
          <p:cNvPr id="16" name="Text 14"/>
          <p:cNvSpPr/>
          <p:nvPr/>
        </p:nvSpPr>
        <p:spPr>
          <a:xfrm>
            <a:off x="868680" y="431596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Permission to use the model?</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Any API key?</a:t>
            </a:r>
            <a:endParaRPr lang="en-US" sz="1500" dirty="0"/>
          </a:p>
        </p:txBody>
      </p:sp>
      <p:sp>
        <p:nvSpPr>
          <p:cNvPr id="17" name="Text 15"/>
          <p:cNvSpPr/>
          <p:nvPr/>
        </p:nvSpPr>
        <p:spPr>
          <a:xfrm>
            <a:off x="5120640" y="431596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 xml:space="preserve">The managed identity has the Foundry User role. Keys are off: </a:t>
            </a:r>
            <a:r>
              <a:rPr lang="en-US" sz="1500" dirty="0">
                <a:solidFill>
                  <a:srgbClr val="242424"/>
                </a:solidFill>
                <a:latin typeface="Consolas" pitchFamily="34" charset="0"/>
                <a:ea typeface="Consolas" pitchFamily="34" charset="-122"/>
                <a:cs typeface="Consolas" pitchFamily="34" charset="-120"/>
              </a:rPr>
              <a:t>disableLocalAuth: true</a:t>
            </a:r>
            <a:r>
              <a:rPr lang="en-US" sz="1500" dirty="0">
                <a:solidFill>
                  <a:srgbClr val="242424"/>
                </a:solidFill>
                <a:latin typeface="Segoe UI" pitchFamily="34" charset="0"/>
                <a:ea typeface="Segoe UI" pitchFamily="34" charset="-122"/>
                <a:cs typeface="Segoe UI" pitchFamily="34" charset="-120"/>
              </a:rPr>
              <a:t>.</a:t>
            </a:r>
            <a:endParaRPr lang="en-US" sz="1500" dirty="0"/>
          </a:p>
        </p:txBody>
      </p:sp>
      <p:sp>
        <p:nvSpPr>
          <p:cNvPr id="18" name="Shape 16"/>
          <p:cNvSpPr/>
          <p:nvPr/>
        </p:nvSpPr>
        <p:spPr>
          <a:xfrm>
            <a:off x="548640" y="516636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7"/>
          <p:cNvSpPr/>
          <p:nvPr/>
        </p:nvSpPr>
        <p:spPr>
          <a:xfrm>
            <a:off x="548640" y="5166360"/>
            <a:ext cx="82296" cy="1005840"/>
          </a:xfrm>
          <a:prstGeom prst="rect">
            <a:avLst/>
          </a:prstGeom>
          <a:solidFill>
            <a:srgbClr val="107C10"/>
          </a:solidFill>
          <a:ln w="12700">
            <a:solidFill>
              <a:srgbClr val="107C10"/>
            </a:solidFill>
            <a:prstDash val="solid"/>
          </a:ln>
        </p:spPr>
        <p:txBody>
          <a:bodyPr/>
          <a:lstStyle/>
          <a:p>
            <a:endParaRPr lang="en-ZA"/>
          </a:p>
        </p:txBody>
      </p:sp>
      <p:sp>
        <p:nvSpPr>
          <p:cNvPr id="20" name="Text 18"/>
          <p:cNvSpPr/>
          <p:nvPr/>
        </p:nvSpPr>
        <p:spPr>
          <a:xfrm>
            <a:off x="868680" y="5303520"/>
            <a:ext cx="393192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STEP 4</a:t>
            </a:r>
            <a:endParaRPr lang="en-US" sz="1300" dirty="0"/>
          </a:p>
        </p:txBody>
      </p:sp>
      <p:sp>
        <p:nvSpPr>
          <p:cNvPr id="21" name="Text 19"/>
          <p:cNvSpPr/>
          <p:nvPr/>
        </p:nvSpPr>
        <p:spPr>
          <a:xfrm>
            <a:off x="868680" y="559612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How many model calls?</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What does a question cost?</a:t>
            </a:r>
            <a:endParaRPr lang="en-US" sz="1500" dirty="0"/>
          </a:p>
        </p:txBody>
      </p:sp>
      <p:sp>
        <p:nvSpPr>
          <p:cNvPr id="22" name="Text 20"/>
          <p:cNvSpPr/>
          <p:nvPr/>
        </p:nvSpPr>
        <p:spPr>
          <a:xfrm>
            <a:off x="5120640" y="559612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 xml:space="preserve">Two: it asks for </a:t>
            </a:r>
            <a:r>
              <a:rPr lang="en-US" sz="1500" dirty="0">
                <a:solidFill>
                  <a:srgbClr val="242424"/>
                </a:solidFill>
                <a:latin typeface="Consolas" pitchFamily="34" charset="0"/>
                <a:ea typeface="Consolas" pitchFamily="34" charset="-122"/>
                <a:cs typeface="Consolas" pitchFamily="34" charset="-120"/>
              </a:rPr>
              <a:t>listProducts</a:t>
            </a:r>
            <a:r>
              <a:rPr lang="en-US" sz="1500" dirty="0">
                <a:solidFill>
                  <a:srgbClr val="242424"/>
                </a:solidFill>
                <a:latin typeface="Segoe UI" pitchFamily="34" charset="0"/>
                <a:ea typeface="Segoe UI" pitchFamily="34" charset="-122"/>
                <a:cs typeface="Segoe UI" pitchFamily="34" charset="-120"/>
              </a:rPr>
              <a:t>, then writes the answer. Off-topic questions usually need one. About $0.00008 each.</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2E2A28"/>
        </a:solidFill>
        <a:effectLst/>
      </p:bgPr>
    </p:bg>
    <p:spTree>
      <p:nvGrpSpPr>
        <p:cNvPr id="1" name=""/>
        <p:cNvGrpSpPr/>
        <p:nvPr/>
      </p:nvGrpSpPr>
      <p:grpSpPr>
        <a:xfrm>
          <a:off x="0" y="0"/>
          <a:ext cx="0" cy="0"/>
          <a:chOff x="0" y="0"/>
          <a:chExt cx="0" cy="0"/>
        </a:xfrm>
      </p:grpSpPr>
      <p:sp>
        <p:nvSpPr>
          <p:cNvPr id="2" name="Text 0"/>
          <p:cNvSpPr/>
          <p:nvPr/>
        </p:nvSpPr>
        <p:spPr>
          <a:xfrm>
            <a:off x="685800" y="1143000"/>
            <a:ext cx="10789920" cy="822960"/>
          </a:xfrm>
          <a:prstGeom prst="rect">
            <a:avLst/>
          </a:prstGeom>
          <a:noFill/>
          <a:ln/>
        </p:spPr>
        <p:txBody>
          <a:bodyPr wrap="square" lIns="0" tIns="0" rIns="0" bIns="0" rtlCol="0" anchor="ctr"/>
          <a:lstStyle/>
          <a:p>
            <a:pPr marL="0" indent="0">
              <a:buNone/>
            </a:pPr>
            <a:r>
              <a:rPr lang="en-US" sz="4000" dirty="0">
                <a:solidFill>
                  <a:srgbClr val="F7F4EF"/>
                </a:solidFill>
                <a:latin typeface="Segoe UI Semibold" pitchFamily="34" charset="0"/>
                <a:ea typeface="Segoe UI Semibold" pitchFamily="34" charset="-122"/>
                <a:cs typeface="Segoe UI Semibold" pitchFamily="34" charset="-120"/>
              </a:rPr>
              <a:t>Run it. Ship it. Add AI. See inside.</a:t>
            </a:r>
            <a:endParaRPr lang="en-US" sz="4000" dirty="0"/>
          </a:p>
        </p:txBody>
      </p:sp>
      <p:sp>
        <p:nvSpPr>
          <p:cNvPr id="3" name="Text 1"/>
          <p:cNvSpPr/>
          <p:nvPr/>
        </p:nvSpPr>
        <p:spPr>
          <a:xfrm>
            <a:off x="685800" y="2194560"/>
            <a:ext cx="7315200" cy="411480"/>
          </a:xfrm>
          <a:prstGeom prst="rect">
            <a:avLst/>
          </a:prstGeom>
          <a:noFill/>
          <a:ln/>
        </p:spPr>
        <p:txBody>
          <a:bodyPr wrap="square" lIns="0" tIns="0" rIns="0" bIns="0" rtlCol="0" anchor="ctr"/>
          <a:lstStyle/>
          <a:p>
            <a:pPr marL="0" indent="0">
              <a:buNone/>
            </a:pPr>
            <a:r>
              <a:rPr lang="en-US" sz="1800" dirty="0">
                <a:solidFill>
                  <a:srgbClr val="C9C4BE"/>
                </a:solidFill>
                <a:latin typeface="Segoe UI" pitchFamily="34" charset="0"/>
                <a:ea typeface="Segoe UI" pitchFamily="34" charset="-122"/>
                <a:cs typeface="Segoe UI" pitchFamily="34" charset="-120"/>
              </a:rPr>
              <a:t>Try it on your own Azure subscription</a:t>
            </a:r>
            <a:endParaRPr lang="en-US" sz="1800" dirty="0"/>
          </a:p>
        </p:txBody>
      </p:sp>
      <p:sp>
        <p:nvSpPr>
          <p:cNvPr id="4" name="Shape 2"/>
          <p:cNvSpPr/>
          <p:nvPr/>
        </p:nvSpPr>
        <p:spPr>
          <a:xfrm>
            <a:off x="685800" y="2743200"/>
            <a:ext cx="7315200" cy="2240280"/>
          </a:xfrm>
          <a:prstGeom prst="rect">
            <a:avLst/>
          </a:prstGeom>
          <a:solidFill>
            <a:srgbClr val="3A3532"/>
          </a:solidFill>
          <a:ln w="12700">
            <a:solidFill>
              <a:srgbClr val="6B6460"/>
            </a:solidFill>
            <a:prstDash val="solid"/>
          </a:ln>
        </p:spPr>
        <p:txBody>
          <a:bodyPr/>
          <a:lstStyle/>
          <a:p>
            <a:endParaRPr lang="en-ZA"/>
          </a:p>
        </p:txBody>
      </p:sp>
      <p:sp>
        <p:nvSpPr>
          <p:cNvPr id="5" name="Text 3"/>
          <p:cNvSpPr/>
          <p:nvPr/>
        </p:nvSpPr>
        <p:spPr>
          <a:xfrm>
            <a:off x="960120" y="2743200"/>
            <a:ext cx="6858000" cy="2240280"/>
          </a:xfrm>
          <a:prstGeom prst="rect">
            <a:avLst/>
          </a:prstGeom>
          <a:noFill/>
          <a:ln/>
        </p:spPr>
        <p:txBody>
          <a:bodyPr wrap="square" lIns="0" tIns="0" rIns="0" bIns="0" rtlCol="0" anchor="ctr"/>
          <a:lstStyle/>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git clone https://github.com/roryp/spring-ai-webstore</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cd spring-ai-webstore/step-2-azure</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auth login</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up</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down --purge</a:t>
            </a:r>
            <a:r>
              <a:rPr lang="en-US" sz="1600" dirty="0">
                <a:solidFill>
                  <a:srgbClr val="C9C4BE"/>
                </a:solidFill>
                <a:latin typeface="Consolas" pitchFamily="34" charset="0"/>
                <a:ea typeface="Consolas" pitchFamily="34" charset="-122"/>
                <a:cs typeface="Consolas" pitchFamily="34" charset="-120"/>
              </a:rPr>
              <a:t xml:space="preserve">    # when you're done</a:t>
            </a:r>
            <a:endParaRPr lang="en-US" sz="1600" dirty="0"/>
          </a:p>
        </p:txBody>
      </p:sp>
      <p:sp>
        <p:nvSpPr>
          <p:cNvPr id="6" name="Text 4"/>
          <p:cNvSpPr/>
          <p:nvPr/>
        </p:nvSpPr>
        <p:spPr>
          <a:xfrm>
            <a:off x="8503920" y="2743200"/>
            <a:ext cx="3200400" cy="731520"/>
          </a:xfrm>
          <a:prstGeom prst="rect">
            <a:avLst/>
          </a:prstGeom>
          <a:noFill/>
          <a:ln/>
        </p:spPr>
        <p:txBody>
          <a:bodyPr wrap="square" lIns="0" tIns="0" rIns="0" bIns="0" rtlCol="0" anchor="t"/>
          <a:lstStyle/>
          <a:p>
            <a:pPr marL="0" indent="0">
              <a:buNone/>
            </a:pPr>
            <a:r>
              <a:rPr lang="en-US" sz="4000" dirty="0">
                <a:solidFill>
                  <a:srgbClr val="FD8EA1"/>
                </a:solidFill>
                <a:latin typeface="Segoe UI Semibold" pitchFamily="34" charset="0"/>
                <a:ea typeface="Segoe UI Semibold" pitchFamily="34" charset="-122"/>
                <a:cs typeface="Segoe UI Semibold" pitchFamily="34" charset="-120"/>
              </a:rPr>
              <a:t>Questions?</a:t>
            </a:r>
            <a:endParaRPr lang="en-US" sz="4000" dirty="0"/>
          </a:p>
        </p:txBody>
      </p:sp>
      <p:sp>
        <p:nvSpPr>
          <p:cNvPr id="7" name="Text 5"/>
          <p:cNvSpPr/>
          <p:nvPr/>
        </p:nvSpPr>
        <p:spPr>
          <a:xfrm>
            <a:off x="8503920" y="3566160"/>
            <a:ext cx="3017520" cy="822960"/>
          </a:xfrm>
          <a:prstGeom prst="rect">
            <a:avLst/>
          </a:prstGeom>
          <a:noFill/>
          <a:ln/>
        </p:spPr>
        <p:txBody>
          <a:bodyPr wrap="square" lIns="0" tIns="0" rIns="0" bIns="0" rtlCol="0" anchor="t"/>
          <a:lstStyle/>
          <a:p>
            <a:pPr marL="0" indent="0">
              <a:buNone/>
            </a:pPr>
            <a:r>
              <a:rPr lang="en-US" sz="1600" dirty="0">
                <a:solidFill>
                  <a:srgbClr val="F7F4EF"/>
                </a:solidFill>
                <a:latin typeface="Segoe UI" pitchFamily="34" charset="0"/>
                <a:ea typeface="Segoe UI" pitchFamily="34" charset="-122"/>
                <a:cs typeface="Segoe UI" pitchFamily="34" charset="-120"/>
              </a:rPr>
              <a:t>The code, diagrams and these slides are all in the repo.</a:t>
            </a:r>
            <a:endParaRPr lang="en-US" sz="1600" dirty="0"/>
          </a:p>
        </p:txBody>
      </p:sp>
      <p:sp>
        <p:nvSpPr>
          <p:cNvPr id="8" name="Text 6"/>
          <p:cNvSpPr/>
          <p:nvPr/>
        </p:nvSpPr>
        <p:spPr>
          <a:xfrm>
            <a:off x="685800" y="5303520"/>
            <a:ext cx="7315200" cy="365760"/>
          </a:xfrm>
          <a:prstGeom prst="rect">
            <a:avLst/>
          </a:prstGeom>
          <a:noFill/>
          <a:ln/>
        </p:spPr>
        <p:txBody>
          <a:bodyPr wrap="square" lIns="0" tIns="0" rIns="0" bIns="0" rtlCol="0" anchor="ctr"/>
          <a:lstStyle/>
          <a:p>
            <a:pPr marL="0" indent="0">
              <a:buNone/>
            </a:pPr>
            <a:r>
              <a:rPr lang="en-US" sz="1500" dirty="0">
                <a:solidFill>
                  <a:srgbClr val="C9C4BE"/>
                </a:solidFill>
                <a:latin typeface="Consolas" pitchFamily="34" charset="0"/>
                <a:ea typeface="Consolas" pitchFamily="34" charset="-122"/>
                <a:cs typeface="Consolas" pitchFamily="34" charset="-120"/>
              </a:rPr>
              <a:t>github.com/roryp/spring-ai-webstore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1265</Words>
  <Application>Microsoft Office PowerPoint</Application>
  <PresentationFormat>Widescreen</PresentationFormat>
  <Paragraphs>141</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Trail Store: from your laptop to an AI you can see inside</dc:title>
  <dc:subject>45-minute workshop</dc:subject>
  <dc:creator>Rory Preddy</dc:creator>
  <cp:lastModifiedBy>Rory Preddy</cp:lastModifiedBy>
  <cp:revision>1</cp:revision>
  <dcterms:created xsi:type="dcterms:W3CDTF">2026-10-22T10:51:02Z</dcterms:created>
  <dcterms:modified xsi:type="dcterms:W3CDTF">2026-10-22T10:56:59Z</dcterms:modified>
</cp:coreProperties>
</file>